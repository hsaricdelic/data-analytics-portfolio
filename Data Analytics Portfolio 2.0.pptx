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Agrandir Bold" charset="1" panose="00000800000000000000"/>
      <p:regular r:id="rId24"/>
    </p:embeddedFont>
    <p:embeddedFont>
      <p:font typeface="Open Sans" charset="1" panose="00000000000000000000"/>
      <p:regular r:id="rId25"/>
    </p:embeddedFont>
    <p:embeddedFont>
      <p:font typeface="Open Sans Bold" charset="1" panose="00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https://www.linkedin.com/posts/startingpointneo_did-you-know-that-data-can-tell-the-story-activity-7491494092485316608-OV7f?utm_source=share&amp;utm_medium=member_desktop&amp;rcm=ACoAAErFq88BGexMd9cyDd92r7-fRxD6iCNUJ7s"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linkedin.com/in/hena-delic-7271512b0" TargetMode="External" Type="http://schemas.openxmlformats.org/officeDocument/2006/relationships/hyperlink"/></Relationships>
</file>

<file path=ppt/slides/slide1.xml><?xml version="1.0" encoding="utf-8"?>
<p:sld xmlns:p="http://schemas.openxmlformats.org/presentationml/2006/main" xmlns:a="http://schemas.openxmlformats.org/drawingml/2006/main">
  <p:cSld>
    <p:bg>
      <p:bgPr>
        <a:solidFill>
          <a:srgbClr val="F9F5F5"/>
        </a:solidFill>
      </p:bgPr>
    </p:bg>
    <p:spTree>
      <p:nvGrpSpPr>
        <p:cNvPr id="1" name=""/>
        <p:cNvGrpSpPr/>
        <p:nvPr/>
      </p:nvGrpSpPr>
      <p:grpSpPr>
        <a:xfrm>
          <a:off x="0" y="0"/>
          <a:ext cx="0" cy="0"/>
          <a:chOff x="0" y="0"/>
          <a:chExt cx="0" cy="0"/>
        </a:xfrm>
      </p:grpSpPr>
      <p:sp>
        <p:nvSpPr>
          <p:cNvPr name="TextBox 2" id="2"/>
          <p:cNvSpPr txBox="true"/>
          <p:nvPr/>
        </p:nvSpPr>
        <p:spPr>
          <a:xfrm rot="0">
            <a:off x="-442218" y="298261"/>
            <a:ext cx="19172435" cy="8147475"/>
          </a:xfrm>
          <a:prstGeom prst="rect">
            <a:avLst/>
          </a:prstGeom>
        </p:spPr>
        <p:txBody>
          <a:bodyPr anchor="t" rtlCol="false" tIns="0" lIns="0" bIns="0" rIns="0">
            <a:spAutoFit/>
          </a:bodyPr>
          <a:lstStyle/>
          <a:p>
            <a:pPr algn="ctr">
              <a:lnSpc>
                <a:spcPts val="57026"/>
              </a:lnSpc>
            </a:pPr>
            <a:r>
              <a:rPr lang="en-US" b="true" sz="40733" spc="-2769">
                <a:solidFill>
                  <a:srgbClr val="FF3131"/>
                </a:solidFill>
                <a:latin typeface="Agrandir Bold"/>
                <a:ea typeface="Agrandir Bold"/>
                <a:cs typeface="Agrandir Bold"/>
                <a:sym typeface="Agrandir Bold"/>
              </a:rPr>
              <a:t>DATA</a:t>
            </a:r>
          </a:p>
        </p:txBody>
      </p:sp>
      <p:sp>
        <p:nvSpPr>
          <p:cNvPr name="TextBox 3" id="3"/>
          <p:cNvSpPr txBox="true"/>
          <p:nvPr/>
        </p:nvSpPr>
        <p:spPr>
          <a:xfrm rot="0">
            <a:off x="1314591" y="3725193"/>
            <a:ext cx="15658818" cy="2293689"/>
          </a:xfrm>
          <a:prstGeom prst="rect">
            <a:avLst/>
          </a:prstGeom>
        </p:spPr>
        <p:txBody>
          <a:bodyPr anchor="t" rtlCol="false" tIns="0" lIns="0" bIns="0" rIns="0">
            <a:spAutoFit/>
          </a:bodyPr>
          <a:lstStyle/>
          <a:p>
            <a:pPr algn="ctr">
              <a:lnSpc>
                <a:spcPts val="16084"/>
              </a:lnSpc>
            </a:pPr>
            <a:r>
              <a:rPr lang="en-US" b="true" sz="11488" spc="-781">
                <a:solidFill>
                  <a:srgbClr val="191919"/>
                </a:solidFill>
                <a:latin typeface="Agrandir Bold"/>
                <a:ea typeface="Agrandir Bold"/>
                <a:cs typeface="Agrandir Bold"/>
                <a:sym typeface="Agrandir Bold"/>
              </a:rPr>
              <a:t>ANALYTICS PORTFOLIO</a:t>
            </a:r>
          </a:p>
        </p:txBody>
      </p:sp>
      <p:sp>
        <p:nvSpPr>
          <p:cNvPr name="TextBox 4" id="4"/>
          <p:cNvSpPr txBox="true"/>
          <p:nvPr/>
        </p:nvSpPr>
        <p:spPr>
          <a:xfrm rot="0">
            <a:off x="1028700" y="8692515"/>
            <a:ext cx="1927624" cy="297180"/>
          </a:xfrm>
          <a:prstGeom prst="rect">
            <a:avLst/>
          </a:prstGeom>
        </p:spPr>
        <p:txBody>
          <a:bodyPr anchor="t" rtlCol="false" tIns="0" lIns="0" bIns="0" rIns="0">
            <a:spAutoFit/>
          </a:bodyPr>
          <a:lstStyle/>
          <a:p>
            <a:pPr algn="l">
              <a:lnSpc>
                <a:spcPts val="2520"/>
              </a:lnSpc>
            </a:pPr>
            <a:r>
              <a:rPr lang="en-US" sz="1800" spc="-91">
                <a:solidFill>
                  <a:srgbClr val="191919"/>
                </a:solidFill>
                <a:latin typeface="Open Sans"/>
                <a:ea typeface="Open Sans"/>
                <a:cs typeface="Open Sans"/>
                <a:sym typeface="Open Sans"/>
              </a:rPr>
              <a:t>Name of Project:</a:t>
            </a:r>
          </a:p>
        </p:txBody>
      </p:sp>
      <p:sp>
        <p:nvSpPr>
          <p:cNvPr name="TextBox 5" id="5"/>
          <p:cNvSpPr txBox="true"/>
          <p:nvPr/>
        </p:nvSpPr>
        <p:spPr>
          <a:xfrm rot="0">
            <a:off x="1028700" y="8961120"/>
            <a:ext cx="3054984" cy="297180"/>
          </a:xfrm>
          <a:prstGeom prst="rect">
            <a:avLst/>
          </a:prstGeom>
        </p:spPr>
        <p:txBody>
          <a:bodyPr anchor="t" rtlCol="false" tIns="0" lIns="0" bIns="0" rIns="0">
            <a:spAutoFit/>
          </a:bodyPr>
          <a:lstStyle/>
          <a:p>
            <a:pPr algn="l">
              <a:lnSpc>
                <a:spcPts val="2520"/>
              </a:lnSpc>
            </a:pPr>
            <a:r>
              <a:rPr lang="en-US" sz="1800" spc="-91" b="true">
                <a:solidFill>
                  <a:srgbClr val="191919"/>
                </a:solidFill>
                <a:latin typeface="Open Sans Bold"/>
                <a:ea typeface="Open Sans Bold"/>
                <a:cs typeface="Open Sans Bold"/>
                <a:sym typeface="Open Sans Bold"/>
              </a:rPr>
              <a:t>Data Analytics Portfolio</a:t>
            </a:r>
          </a:p>
        </p:txBody>
      </p:sp>
      <p:sp>
        <p:nvSpPr>
          <p:cNvPr name="TextBox 6" id="6"/>
          <p:cNvSpPr txBox="true"/>
          <p:nvPr/>
        </p:nvSpPr>
        <p:spPr>
          <a:xfrm rot="0">
            <a:off x="5276514" y="8692515"/>
            <a:ext cx="1619638" cy="297180"/>
          </a:xfrm>
          <a:prstGeom prst="rect">
            <a:avLst/>
          </a:prstGeom>
        </p:spPr>
        <p:txBody>
          <a:bodyPr anchor="t" rtlCol="false" tIns="0" lIns="0" bIns="0" rIns="0">
            <a:spAutoFit/>
          </a:bodyPr>
          <a:lstStyle/>
          <a:p>
            <a:pPr algn="l">
              <a:lnSpc>
                <a:spcPts val="2520"/>
              </a:lnSpc>
            </a:pPr>
            <a:r>
              <a:rPr lang="en-US" sz="1800" spc="-91">
                <a:solidFill>
                  <a:srgbClr val="191919"/>
                </a:solidFill>
                <a:latin typeface="Open Sans"/>
                <a:ea typeface="Open Sans"/>
                <a:cs typeface="Open Sans"/>
                <a:sym typeface="Open Sans"/>
              </a:rPr>
              <a:t>Presented By:</a:t>
            </a:r>
          </a:p>
        </p:txBody>
      </p:sp>
      <p:sp>
        <p:nvSpPr>
          <p:cNvPr name="TextBox 7" id="7"/>
          <p:cNvSpPr txBox="true"/>
          <p:nvPr/>
        </p:nvSpPr>
        <p:spPr>
          <a:xfrm rot="0">
            <a:off x="5276514" y="8961120"/>
            <a:ext cx="2055940" cy="297180"/>
          </a:xfrm>
          <a:prstGeom prst="rect">
            <a:avLst/>
          </a:prstGeom>
        </p:spPr>
        <p:txBody>
          <a:bodyPr anchor="t" rtlCol="false" tIns="0" lIns="0" bIns="0" rIns="0">
            <a:spAutoFit/>
          </a:bodyPr>
          <a:lstStyle/>
          <a:p>
            <a:pPr algn="l">
              <a:lnSpc>
                <a:spcPts val="2520"/>
              </a:lnSpc>
            </a:pPr>
            <a:r>
              <a:rPr lang="en-US" sz="1800" spc="-91" b="true">
                <a:solidFill>
                  <a:srgbClr val="191919"/>
                </a:solidFill>
                <a:latin typeface="Open Sans Bold"/>
                <a:ea typeface="Open Sans Bold"/>
                <a:cs typeface="Open Sans Bold"/>
                <a:sym typeface="Open Sans Bold"/>
              </a:rPr>
              <a:t>Hena Delic</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9F5F5"/>
        </a:solidFill>
      </p:bgPr>
    </p:bg>
    <p:spTree>
      <p:nvGrpSpPr>
        <p:cNvPr id="1" name=""/>
        <p:cNvGrpSpPr/>
        <p:nvPr/>
      </p:nvGrpSpPr>
      <p:grpSpPr>
        <a:xfrm>
          <a:off x="0" y="0"/>
          <a:ext cx="0" cy="0"/>
          <a:chOff x="0" y="0"/>
          <a:chExt cx="0" cy="0"/>
        </a:xfrm>
      </p:grpSpPr>
      <p:sp>
        <p:nvSpPr>
          <p:cNvPr name="Freeform 2" id="2"/>
          <p:cNvSpPr/>
          <p:nvPr/>
        </p:nvSpPr>
        <p:spPr>
          <a:xfrm flipH="false" flipV="false" rot="0">
            <a:off x="1559709" y="1711261"/>
            <a:ext cx="5047949" cy="6559895"/>
          </a:xfrm>
          <a:custGeom>
            <a:avLst/>
            <a:gdLst/>
            <a:ahLst/>
            <a:cxnLst/>
            <a:rect r="r" b="b" t="t" l="l"/>
            <a:pathLst>
              <a:path h="6559895" w="5047949">
                <a:moveTo>
                  <a:pt x="0" y="0"/>
                </a:moveTo>
                <a:lnTo>
                  <a:pt x="5047949" y="0"/>
                </a:lnTo>
                <a:lnTo>
                  <a:pt x="5047949" y="6559895"/>
                </a:lnTo>
                <a:lnTo>
                  <a:pt x="0" y="6559895"/>
                </a:lnTo>
                <a:lnTo>
                  <a:pt x="0" y="0"/>
                </a:lnTo>
                <a:close/>
              </a:path>
            </a:pathLst>
          </a:custGeom>
          <a:blipFill>
            <a:blip r:embed="rId2"/>
            <a:stretch>
              <a:fillRect l="0" t="0" r="0" b="0"/>
            </a:stretch>
          </a:blipFill>
        </p:spPr>
      </p:sp>
      <p:sp>
        <p:nvSpPr>
          <p:cNvPr name="TextBox 3" id="3"/>
          <p:cNvSpPr txBox="true"/>
          <p:nvPr/>
        </p:nvSpPr>
        <p:spPr>
          <a:xfrm rot="0">
            <a:off x="8753023" y="5999669"/>
            <a:ext cx="7990687" cy="1823740"/>
          </a:xfrm>
          <a:prstGeom prst="rect">
            <a:avLst/>
          </a:prstGeom>
        </p:spPr>
        <p:txBody>
          <a:bodyPr anchor="t" rtlCol="false" tIns="0" lIns="0" bIns="0" rIns="0">
            <a:spAutoFit/>
          </a:bodyPr>
          <a:lstStyle/>
          <a:p>
            <a:pPr algn="just">
              <a:lnSpc>
                <a:spcPts val="2458"/>
              </a:lnSpc>
            </a:pPr>
            <a:r>
              <a:rPr lang="en-US" sz="1755">
                <a:solidFill>
                  <a:srgbClr val="191919"/>
                </a:solidFill>
                <a:latin typeface="Open Sans"/>
                <a:ea typeface="Open Sans"/>
                <a:cs typeface="Open Sans"/>
                <a:sym typeface="Open Sans"/>
              </a:rPr>
              <a:t>I am a second year Masters in Data Science student at Boston University. I spent the summer of 2026 as a Data Analytics and Marketing intern at Starting Point NEO, a Child Care Resource and Referral Agency in Cleveland, OH. I was placed here as part of the Cleveland Foundation’s summer internship program. I learned a lot during my time at Starting Point and wanted to share the projects I worked on.</a:t>
            </a:r>
          </a:p>
        </p:txBody>
      </p:sp>
      <p:sp>
        <p:nvSpPr>
          <p:cNvPr name="TextBox 4" id="4"/>
          <p:cNvSpPr txBox="true"/>
          <p:nvPr/>
        </p:nvSpPr>
        <p:spPr>
          <a:xfrm rot="0">
            <a:off x="8753023" y="2114114"/>
            <a:ext cx="6173577" cy="3661410"/>
          </a:xfrm>
          <a:prstGeom prst="rect">
            <a:avLst/>
          </a:prstGeom>
        </p:spPr>
        <p:txBody>
          <a:bodyPr anchor="t" rtlCol="false" tIns="0" lIns="0" bIns="0" rIns="0">
            <a:spAutoFit/>
          </a:bodyPr>
          <a:lstStyle/>
          <a:p>
            <a:pPr algn="l">
              <a:lnSpc>
                <a:spcPts val="8640"/>
              </a:lnSpc>
            </a:pPr>
            <a:r>
              <a:rPr lang="en-US" sz="9600" spc="-652" b="true">
                <a:solidFill>
                  <a:srgbClr val="FF4141"/>
                </a:solidFill>
                <a:latin typeface="Agrandir Bold"/>
                <a:ea typeface="Agrandir Bold"/>
                <a:cs typeface="Agrandir Bold"/>
                <a:sym typeface="Agrandir Bold"/>
              </a:rPr>
              <a:t>Hello, I'm Hena </a:t>
            </a:r>
          </a:p>
          <a:p>
            <a:pPr algn="l">
              <a:lnSpc>
                <a:spcPts val="8640"/>
              </a:lnSpc>
            </a:pPr>
            <a:r>
              <a:rPr lang="en-US" b="true" sz="9600" spc="-652">
                <a:solidFill>
                  <a:srgbClr val="FF4141"/>
                </a:solidFill>
                <a:latin typeface="Agrandir Bold"/>
                <a:ea typeface="Agrandir Bold"/>
                <a:cs typeface="Agrandir Bold"/>
                <a:sym typeface="Agrandir Bold"/>
              </a:rPr>
              <a:t>Delic!</a:t>
            </a:r>
          </a:p>
        </p:txBody>
      </p:sp>
      <p:sp>
        <p:nvSpPr>
          <p:cNvPr name="TextBox 5" id="5"/>
          <p:cNvSpPr txBox="true"/>
          <p:nvPr/>
        </p:nvSpPr>
        <p:spPr>
          <a:xfrm rot="0">
            <a:off x="1028700" y="8692515"/>
            <a:ext cx="1927624" cy="297180"/>
          </a:xfrm>
          <a:prstGeom prst="rect">
            <a:avLst/>
          </a:prstGeom>
        </p:spPr>
        <p:txBody>
          <a:bodyPr anchor="t" rtlCol="false" tIns="0" lIns="0" bIns="0" rIns="0">
            <a:spAutoFit/>
          </a:bodyPr>
          <a:lstStyle/>
          <a:p>
            <a:pPr algn="l">
              <a:lnSpc>
                <a:spcPts val="2520"/>
              </a:lnSpc>
            </a:pPr>
            <a:r>
              <a:rPr lang="en-US" sz="1800" spc="-91">
                <a:solidFill>
                  <a:srgbClr val="191919"/>
                </a:solidFill>
                <a:latin typeface="Open Sans"/>
                <a:ea typeface="Open Sans"/>
                <a:cs typeface="Open Sans"/>
                <a:sym typeface="Open Sans"/>
              </a:rPr>
              <a:t>Name of Project:</a:t>
            </a:r>
          </a:p>
        </p:txBody>
      </p:sp>
      <p:sp>
        <p:nvSpPr>
          <p:cNvPr name="TextBox 6" id="6"/>
          <p:cNvSpPr txBox="true"/>
          <p:nvPr/>
        </p:nvSpPr>
        <p:spPr>
          <a:xfrm rot="0">
            <a:off x="1028700" y="8961120"/>
            <a:ext cx="3054984" cy="297180"/>
          </a:xfrm>
          <a:prstGeom prst="rect">
            <a:avLst/>
          </a:prstGeom>
        </p:spPr>
        <p:txBody>
          <a:bodyPr anchor="t" rtlCol="false" tIns="0" lIns="0" bIns="0" rIns="0">
            <a:spAutoFit/>
          </a:bodyPr>
          <a:lstStyle/>
          <a:p>
            <a:pPr algn="l">
              <a:lnSpc>
                <a:spcPts val="2520"/>
              </a:lnSpc>
            </a:pPr>
            <a:r>
              <a:rPr lang="en-US" sz="1800" spc="-91" b="true">
                <a:solidFill>
                  <a:srgbClr val="191919"/>
                </a:solidFill>
                <a:latin typeface="Open Sans Bold"/>
                <a:ea typeface="Open Sans Bold"/>
                <a:cs typeface="Open Sans Bold"/>
                <a:sym typeface="Open Sans Bold"/>
              </a:rPr>
              <a:t>Data Analytics Portfolio</a:t>
            </a:r>
          </a:p>
        </p:txBody>
      </p:sp>
      <p:sp>
        <p:nvSpPr>
          <p:cNvPr name="TextBox 7" id="7"/>
          <p:cNvSpPr txBox="true"/>
          <p:nvPr/>
        </p:nvSpPr>
        <p:spPr>
          <a:xfrm rot="0">
            <a:off x="5276514" y="8692515"/>
            <a:ext cx="1619638" cy="297180"/>
          </a:xfrm>
          <a:prstGeom prst="rect">
            <a:avLst/>
          </a:prstGeom>
        </p:spPr>
        <p:txBody>
          <a:bodyPr anchor="t" rtlCol="false" tIns="0" lIns="0" bIns="0" rIns="0">
            <a:spAutoFit/>
          </a:bodyPr>
          <a:lstStyle/>
          <a:p>
            <a:pPr algn="l">
              <a:lnSpc>
                <a:spcPts val="2520"/>
              </a:lnSpc>
            </a:pPr>
            <a:r>
              <a:rPr lang="en-US" sz="1800" spc="-91">
                <a:solidFill>
                  <a:srgbClr val="191919"/>
                </a:solidFill>
                <a:latin typeface="Open Sans"/>
                <a:ea typeface="Open Sans"/>
                <a:cs typeface="Open Sans"/>
                <a:sym typeface="Open Sans"/>
              </a:rPr>
              <a:t>Presented By:</a:t>
            </a:r>
          </a:p>
        </p:txBody>
      </p:sp>
      <p:sp>
        <p:nvSpPr>
          <p:cNvPr name="TextBox 8" id="8"/>
          <p:cNvSpPr txBox="true"/>
          <p:nvPr/>
        </p:nvSpPr>
        <p:spPr>
          <a:xfrm rot="0">
            <a:off x="5276514" y="8961120"/>
            <a:ext cx="2055940" cy="297180"/>
          </a:xfrm>
          <a:prstGeom prst="rect">
            <a:avLst/>
          </a:prstGeom>
        </p:spPr>
        <p:txBody>
          <a:bodyPr anchor="t" rtlCol="false" tIns="0" lIns="0" bIns="0" rIns="0">
            <a:spAutoFit/>
          </a:bodyPr>
          <a:lstStyle/>
          <a:p>
            <a:pPr algn="l">
              <a:lnSpc>
                <a:spcPts val="2520"/>
              </a:lnSpc>
            </a:pPr>
            <a:r>
              <a:rPr lang="en-US" sz="1800" spc="-91" b="true">
                <a:solidFill>
                  <a:srgbClr val="191919"/>
                </a:solidFill>
                <a:latin typeface="Open Sans Bold"/>
                <a:ea typeface="Open Sans Bold"/>
                <a:cs typeface="Open Sans Bold"/>
                <a:sym typeface="Open Sans Bold"/>
              </a:rPr>
              <a:t>Hena Delic</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9F5F5"/>
        </a:solidFill>
      </p:bgPr>
    </p:bg>
    <p:spTree>
      <p:nvGrpSpPr>
        <p:cNvPr id="1" name=""/>
        <p:cNvGrpSpPr/>
        <p:nvPr/>
      </p:nvGrpSpPr>
      <p:grpSpPr>
        <a:xfrm>
          <a:off x="0" y="0"/>
          <a:ext cx="0" cy="0"/>
          <a:chOff x="0" y="0"/>
          <a:chExt cx="0" cy="0"/>
        </a:xfrm>
      </p:grpSpPr>
      <p:sp>
        <p:nvSpPr>
          <p:cNvPr name="Freeform 2" id="2"/>
          <p:cNvSpPr/>
          <p:nvPr/>
        </p:nvSpPr>
        <p:spPr>
          <a:xfrm flipH="false" flipV="false" rot="0">
            <a:off x="9632114" y="1028700"/>
            <a:ext cx="7627186" cy="2568338"/>
          </a:xfrm>
          <a:custGeom>
            <a:avLst/>
            <a:gdLst/>
            <a:ahLst/>
            <a:cxnLst/>
            <a:rect r="r" b="b" t="t" l="l"/>
            <a:pathLst>
              <a:path h="2568338" w="7627186">
                <a:moveTo>
                  <a:pt x="0" y="0"/>
                </a:moveTo>
                <a:lnTo>
                  <a:pt x="7627186" y="0"/>
                </a:lnTo>
                <a:lnTo>
                  <a:pt x="7627186" y="2568338"/>
                </a:lnTo>
                <a:lnTo>
                  <a:pt x="0" y="2568338"/>
                </a:lnTo>
                <a:lnTo>
                  <a:pt x="0" y="0"/>
                </a:lnTo>
                <a:close/>
              </a:path>
            </a:pathLst>
          </a:custGeom>
          <a:blipFill>
            <a:blip r:embed="rId2"/>
            <a:stretch>
              <a:fillRect l="0" t="0" r="0" b="0"/>
            </a:stretch>
          </a:blipFill>
        </p:spPr>
      </p:sp>
      <p:sp>
        <p:nvSpPr>
          <p:cNvPr name="TextBox 3" id="3"/>
          <p:cNvSpPr txBox="true"/>
          <p:nvPr/>
        </p:nvSpPr>
        <p:spPr>
          <a:xfrm rot="0">
            <a:off x="1028700" y="1750696"/>
            <a:ext cx="5621081" cy="2345054"/>
          </a:xfrm>
          <a:prstGeom prst="rect">
            <a:avLst/>
          </a:prstGeom>
        </p:spPr>
        <p:txBody>
          <a:bodyPr anchor="t" rtlCol="false" tIns="0" lIns="0" bIns="0" rIns="0">
            <a:spAutoFit/>
          </a:bodyPr>
          <a:lstStyle/>
          <a:p>
            <a:pPr algn="l">
              <a:lnSpc>
                <a:spcPts val="7919"/>
              </a:lnSpc>
            </a:pPr>
            <a:r>
              <a:rPr lang="en-US" b="true" sz="8799" spc="-598">
                <a:solidFill>
                  <a:srgbClr val="FF4141"/>
                </a:solidFill>
                <a:latin typeface="Agrandir Bold"/>
                <a:ea typeface="Agrandir Bold"/>
                <a:cs typeface="Agrandir Bold"/>
                <a:sym typeface="Agrandir Bold"/>
              </a:rPr>
              <a:t>Summer Project</a:t>
            </a:r>
          </a:p>
        </p:txBody>
      </p:sp>
      <p:sp>
        <p:nvSpPr>
          <p:cNvPr name="TextBox 4" id="4"/>
          <p:cNvSpPr txBox="true"/>
          <p:nvPr/>
        </p:nvSpPr>
        <p:spPr>
          <a:xfrm rot="0">
            <a:off x="6504209" y="7057268"/>
            <a:ext cx="5098822" cy="1508420"/>
          </a:xfrm>
          <a:prstGeom prst="rect">
            <a:avLst/>
          </a:prstGeom>
        </p:spPr>
        <p:txBody>
          <a:bodyPr anchor="t" rtlCol="false" tIns="0" lIns="0" bIns="0" rIns="0">
            <a:spAutoFit/>
          </a:bodyPr>
          <a:lstStyle/>
          <a:p>
            <a:pPr algn="l">
              <a:lnSpc>
                <a:spcPts val="2433"/>
              </a:lnSpc>
            </a:pPr>
            <a:r>
              <a:rPr lang="en-US" sz="1738">
                <a:solidFill>
                  <a:srgbClr val="191919"/>
                </a:solidFill>
                <a:latin typeface="Open Sans"/>
                <a:ea typeface="Open Sans"/>
                <a:cs typeface="Open Sans"/>
                <a:sym typeface="Open Sans"/>
              </a:rPr>
              <a:t>My analytics will be used in this year’s annual report. Additionally, I collaborated with the marketing team to film a </a:t>
            </a:r>
            <a:r>
              <a:rPr lang="en-US" sz="1738" u="sng">
                <a:solidFill>
                  <a:srgbClr val="5170FF"/>
                </a:solidFill>
                <a:latin typeface="Open Sans"/>
                <a:ea typeface="Open Sans"/>
                <a:cs typeface="Open Sans"/>
                <a:sym typeface="Open Sans"/>
                <a:hlinkClick r:id="rId3" tooltip="https://www.linkedin.com/posts/startingpointneo_did-you-know-that-data-can-tell-the-story-activity-7491494092485316608-OV7f?utm_source=share&amp;utm_medium=member_desktop&amp;rcm=ACoAAErFq88BGexMd9cyDd92r7-fRxD6iCNUJ7s"/>
              </a:rPr>
              <a:t>video series</a:t>
            </a:r>
            <a:r>
              <a:rPr lang="en-US" sz="1738">
                <a:solidFill>
                  <a:srgbClr val="191919"/>
                </a:solidFill>
                <a:latin typeface="Open Sans"/>
                <a:ea typeface="Open Sans"/>
                <a:cs typeface="Open Sans"/>
                <a:sym typeface="Open Sans"/>
              </a:rPr>
              <a:t> showcasing my work which is featured across their social media.</a:t>
            </a:r>
          </a:p>
        </p:txBody>
      </p:sp>
      <p:sp>
        <p:nvSpPr>
          <p:cNvPr name="TextBox 5" id="5"/>
          <p:cNvSpPr txBox="true"/>
          <p:nvPr/>
        </p:nvSpPr>
        <p:spPr>
          <a:xfrm rot="0">
            <a:off x="11979718" y="7057268"/>
            <a:ext cx="5279582" cy="925830"/>
          </a:xfrm>
          <a:prstGeom prst="rect">
            <a:avLst/>
          </a:prstGeom>
        </p:spPr>
        <p:txBody>
          <a:bodyPr anchor="t" rtlCol="false" tIns="0" lIns="0" bIns="0" rIns="0">
            <a:spAutoFit/>
          </a:bodyPr>
          <a:lstStyle/>
          <a:p>
            <a:pPr algn="l">
              <a:lnSpc>
                <a:spcPts val="2520"/>
              </a:lnSpc>
            </a:pPr>
            <a:r>
              <a:rPr lang="en-US" sz="1800">
                <a:solidFill>
                  <a:srgbClr val="191919"/>
                </a:solidFill>
                <a:latin typeface="Open Sans"/>
                <a:ea typeface="Open Sans"/>
                <a:cs typeface="Open Sans"/>
                <a:sym typeface="Open Sans"/>
              </a:rPr>
              <a:t>As the first person to analyze some of these datasets, my work will serve as a foundation for future analytics at the organization.</a:t>
            </a:r>
          </a:p>
        </p:txBody>
      </p:sp>
      <p:sp>
        <p:nvSpPr>
          <p:cNvPr name="TextBox 6" id="6"/>
          <p:cNvSpPr txBox="true"/>
          <p:nvPr/>
        </p:nvSpPr>
        <p:spPr>
          <a:xfrm rot="0">
            <a:off x="1028700" y="7057268"/>
            <a:ext cx="5279582" cy="1554480"/>
          </a:xfrm>
          <a:prstGeom prst="rect">
            <a:avLst/>
          </a:prstGeom>
        </p:spPr>
        <p:txBody>
          <a:bodyPr anchor="t" rtlCol="false" tIns="0" lIns="0" bIns="0" rIns="0">
            <a:spAutoFit/>
          </a:bodyPr>
          <a:lstStyle/>
          <a:p>
            <a:pPr algn="l">
              <a:lnSpc>
                <a:spcPts val="2520"/>
              </a:lnSpc>
            </a:pPr>
            <a:r>
              <a:rPr lang="en-US" sz="1800">
                <a:solidFill>
                  <a:srgbClr val="191919"/>
                </a:solidFill>
                <a:latin typeface="Open Sans"/>
                <a:ea typeface="Open Sans"/>
                <a:cs typeface="Open Sans"/>
                <a:sym typeface="Open Sans"/>
              </a:rPr>
              <a:t>My goal was to show that the work being done at Starting Point to support families and child care centers to offer the best care to young children is not only working but also driving change in the community.</a:t>
            </a:r>
          </a:p>
        </p:txBody>
      </p:sp>
      <p:sp>
        <p:nvSpPr>
          <p:cNvPr name="TextBox 7" id="7"/>
          <p:cNvSpPr txBox="true"/>
          <p:nvPr/>
        </p:nvSpPr>
        <p:spPr>
          <a:xfrm rot="0">
            <a:off x="6504209" y="6551028"/>
            <a:ext cx="4303335" cy="356235"/>
          </a:xfrm>
          <a:prstGeom prst="rect">
            <a:avLst/>
          </a:prstGeom>
        </p:spPr>
        <p:txBody>
          <a:bodyPr anchor="t" rtlCol="false" tIns="0" lIns="0" bIns="0" rIns="0">
            <a:spAutoFit/>
          </a:bodyPr>
          <a:lstStyle/>
          <a:p>
            <a:pPr algn="just">
              <a:lnSpc>
                <a:spcPts val="2939"/>
              </a:lnSpc>
            </a:pPr>
            <a:r>
              <a:rPr lang="en-US" sz="2099" b="true">
                <a:solidFill>
                  <a:srgbClr val="191919"/>
                </a:solidFill>
                <a:latin typeface="Open Sans Bold"/>
                <a:ea typeface="Open Sans Bold"/>
                <a:cs typeface="Open Sans Bold"/>
                <a:sym typeface="Open Sans Bold"/>
              </a:rPr>
              <a:t>Analytics &amp; Reports</a:t>
            </a:r>
          </a:p>
        </p:txBody>
      </p:sp>
      <p:sp>
        <p:nvSpPr>
          <p:cNvPr name="TextBox 8" id="8"/>
          <p:cNvSpPr txBox="true"/>
          <p:nvPr/>
        </p:nvSpPr>
        <p:spPr>
          <a:xfrm rot="0">
            <a:off x="11979718" y="6551028"/>
            <a:ext cx="4303335" cy="356235"/>
          </a:xfrm>
          <a:prstGeom prst="rect">
            <a:avLst/>
          </a:prstGeom>
        </p:spPr>
        <p:txBody>
          <a:bodyPr anchor="t" rtlCol="false" tIns="0" lIns="0" bIns="0" rIns="0">
            <a:spAutoFit/>
          </a:bodyPr>
          <a:lstStyle/>
          <a:p>
            <a:pPr algn="just">
              <a:lnSpc>
                <a:spcPts val="2939"/>
              </a:lnSpc>
            </a:pPr>
            <a:r>
              <a:rPr lang="en-US" sz="2099" b="true">
                <a:solidFill>
                  <a:srgbClr val="191919"/>
                </a:solidFill>
                <a:latin typeface="Open Sans Bold"/>
                <a:ea typeface="Open Sans Bold"/>
                <a:cs typeface="Open Sans Bold"/>
                <a:sym typeface="Open Sans Bold"/>
              </a:rPr>
              <a:t>Adaptation &amp; Evolution</a:t>
            </a:r>
          </a:p>
        </p:txBody>
      </p:sp>
      <p:sp>
        <p:nvSpPr>
          <p:cNvPr name="TextBox 9" id="9"/>
          <p:cNvSpPr txBox="true"/>
          <p:nvPr/>
        </p:nvSpPr>
        <p:spPr>
          <a:xfrm rot="0">
            <a:off x="1028700" y="6551028"/>
            <a:ext cx="4303335" cy="356235"/>
          </a:xfrm>
          <a:prstGeom prst="rect">
            <a:avLst/>
          </a:prstGeom>
        </p:spPr>
        <p:txBody>
          <a:bodyPr anchor="t" rtlCol="false" tIns="0" lIns="0" bIns="0" rIns="0">
            <a:spAutoFit/>
          </a:bodyPr>
          <a:lstStyle/>
          <a:p>
            <a:pPr algn="just">
              <a:lnSpc>
                <a:spcPts val="2939"/>
              </a:lnSpc>
            </a:pPr>
            <a:r>
              <a:rPr lang="en-US" sz="2099" b="true">
                <a:solidFill>
                  <a:srgbClr val="191919"/>
                </a:solidFill>
                <a:latin typeface="Open Sans Bold"/>
                <a:ea typeface="Open Sans Bold"/>
                <a:cs typeface="Open Sans Bold"/>
                <a:sym typeface="Open Sans Bold"/>
              </a:rPr>
              <a:t>Goals &amp; targets</a:t>
            </a:r>
          </a:p>
        </p:txBody>
      </p:sp>
      <p:sp>
        <p:nvSpPr>
          <p:cNvPr name="TextBox 10" id="10"/>
          <p:cNvSpPr txBox="true"/>
          <p:nvPr/>
        </p:nvSpPr>
        <p:spPr>
          <a:xfrm rot="0">
            <a:off x="1028700" y="4539447"/>
            <a:ext cx="8859835" cy="1240155"/>
          </a:xfrm>
          <a:prstGeom prst="rect">
            <a:avLst/>
          </a:prstGeom>
        </p:spPr>
        <p:txBody>
          <a:bodyPr anchor="t" rtlCol="false" tIns="0" lIns="0" bIns="0" rIns="0">
            <a:spAutoFit/>
          </a:bodyPr>
          <a:lstStyle/>
          <a:p>
            <a:pPr algn="just">
              <a:lnSpc>
                <a:spcPts val="2520"/>
              </a:lnSpc>
            </a:pPr>
            <a:r>
              <a:rPr lang="en-US" sz="1800">
                <a:solidFill>
                  <a:srgbClr val="191919"/>
                </a:solidFill>
                <a:latin typeface="Open Sans"/>
                <a:ea typeface="Open Sans"/>
                <a:cs typeface="Open Sans"/>
                <a:sym typeface="Open Sans"/>
              </a:rPr>
              <a:t>My main internship project this summer involved extracting, transforming and loading data from datasets across several programmatic areas at Starting Point. I then analyzed this data for major patterns in Microsoft Excel and used data visualization tools like PowerBI to convey my findings. </a:t>
            </a:r>
          </a:p>
        </p:txBody>
      </p:sp>
      <p:sp>
        <p:nvSpPr>
          <p:cNvPr name="AutoShape 11" id="11"/>
          <p:cNvSpPr/>
          <p:nvPr/>
        </p:nvSpPr>
        <p:spPr>
          <a:xfrm flipV="true">
            <a:off x="15082322" y="9277350"/>
            <a:ext cx="2176978" cy="0"/>
          </a:xfrm>
          <a:prstGeom prst="line">
            <a:avLst/>
          </a:prstGeom>
          <a:ln cap="flat" w="38100">
            <a:solidFill>
              <a:srgbClr val="000000"/>
            </a:solidFill>
            <a:prstDash val="solid"/>
            <a:headEnd type="none" len="sm" w="sm"/>
            <a:tailEnd type="arrow" len="sm" w="med"/>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9F5F5"/>
        </a:solidFill>
      </p:bgPr>
    </p:bg>
    <p:spTree>
      <p:nvGrpSpPr>
        <p:cNvPr id="1" name=""/>
        <p:cNvGrpSpPr/>
        <p:nvPr/>
      </p:nvGrpSpPr>
      <p:grpSpPr>
        <a:xfrm>
          <a:off x="0" y="0"/>
          <a:ext cx="0" cy="0"/>
          <a:chOff x="0" y="0"/>
          <a:chExt cx="0" cy="0"/>
        </a:xfrm>
      </p:grpSpPr>
      <p:sp>
        <p:nvSpPr>
          <p:cNvPr name="Freeform 2" id="2"/>
          <p:cNvSpPr/>
          <p:nvPr/>
        </p:nvSpPr>
        <p:spPr>
          <a:xfrm flipH="false" flipV="false" rot="0">
            <a:off x="2485948" y="3085451"/>
            <a:ext cx="11857825" cy="6663902"/>
          </a:xfrm>
          <a:custGeom>
            <a:avLst/>
            <a:gdLst/>
            <a:ahLst/>
            <a:cxnLst/>
            <a:rect r="r" b="b" t="t" l="l"/>
            <a:pathLst>
              <a:path h="6663902" w="11857825">
                <a:moveTo>
                  <a:pt x="0" y="0"/>
                </a:moveTo>
                <a:lnTo>
                  <a:pt x="11857825" y="0"/>
                </a:lnTo>
                <a:lnTo>
                  <a:pt x="11857825" y="6663902"/>
                </a:lnTo>
                <a:lnTo>
                  <a:pt x="0" y="6663902"/>
                </a:lnTo>
                <a:lnTo>
                  <a:pt x="0" y="0"/>
                </a:lnTo>
                <a:close/>
              </a:path>
            </a:pathLst>
          </a:custGeom>
          <a:blipFill>
            <a:blip r:embed="rId2"/>
            <a:stretch>
              <a:fillRect l="0" t="0" r="0" b="0"/>
            </a:stretch>
          </a:blipFill>
        </p:spPr>
      </p:sp>
      <p:grpSp>
        <p:nvGrpSpPr>
          <p:cNvPr name="Group 3" id="3"/>
          <p:cNvGrpSpPr/>
          <p:nvPr/>
        </p:nvGrpSpPr>
        <p:grpSpPr>
          <a:xfrm rot="0">
            <a:off x="8017601" y="8466338"/>
            <a:ext cx="6062178" cy="883802"/>
            <a:chOff x="0" y="0"/>
            <a:chExt cx="1596623" cy="232771"/>
          </a:xfrm>
        </p:grpSpPr>
        <p:sp>
          <p:nvSpPr>
            <p:cNvPr name="Freeform 4" id="4"/>
            <p:cNvSpPr/>
            <p:nvPr/>
          </p:nvSpPr>
          <p:spPr>
            <a:xfrm flipH="false" flipV="false" rot="0">
              <a:off x="0" y="0"/>
              <a:ext cx="1596623" cy="232771"/>
            </a:xfrm>
            <a:custGeom>
              <a:avLst/>
              <a:gdLst/>
              <a:ahLst/>
              <a:cxnLst/>
              <a:rect r="r" b="b" t="t" l="l"/>
              <a:pathLst>
                <a:path h="232771" w="1596623">
                  <a:moveTo>
                    <a:pt x="0" y="0"/>
                  </a:moveTo>
                  <a:lnTo>
                    <a:pt x="1596623" y="0"/>
                  </a:lnTo>
                  <a:lnTo>
                    <a:pt x="1596623" y="232771"/>
                  </a:lnTo>
                  <a:lnTo>
                    <a:pt x="0" y="232771"/>
                  </a:lnTo>
                  <a:close/>
                </a:path>
              </a:pathLst>
            </a:custGeom>
            <a:solidFill>
              <a:srgbClr val="F9F5F5"/>
            </a:solidFill>
          </p:spPr>
        </p:sp>
        <p:sp>
          <p:nvSpPr>
            <p:cNvPr name="TextBox 5" id="5"/>
            <p:cNvSpPr txBox="true"/>
            <p:nvPr/>
          </p:nvSpPr>
          <p:spPr>
            <a:xfrm>
              <a:off x="0" y="-38100"/>
              <a:ext cx="1596623" cy="270871"/>
            </a:xfrm>
            <a:prstGeom prst="rect">
              <a:avLst/>
            </a:prstGeom>
          </p:spPr>
          <p:txBody>
            <a:bodyPr anchor="ctr" rtlCol="false" tIns="50800" lIns="50800" bIns="50800" rIns="50800"/>
            <a:lstStyle/>
            <a:p>
              <a:pPr algn="ctr">
                <a:lnSpc>
                  <a:spcPts val="2939"/>
                </a:lnSpc>
              </a:pPr>
            </a:p>
          </p:txBody>
        </p:sp>
      </p:grpSp>
      <p:sp>
        <p:nvSpPr>
          <p:cNvPr name="TextBox 6" id="6"/>
          <p:cNvSpPr txBox="true"/>
          <p:nvPr/>
        </p:nvSpPr>
        <p:spPr>
          <a:xfrm rot="0">
            <a:off x="522767" y="686879"/>
            <a:ext cx="9077606" cy="854071"/>
          </a:xfrm>
          <a:prstGeom prst="rect">
            <a:avLst/>
          </a:prstGeom>
        </p:spPr>
        <p:txBody>
          <a:bodyPr anchor="t" rtlCol="false" tIns="0" lIns="0" bIns="0" rIns="0">
            <a:spAutoFit/>
          </a:bodyPr>
          <a:lstStyle/>
          <a:p>
            <a:pPr algn="l">
              <a:lnSpc>
                <a:spcPts val="5008"/>
              </a:lnSpc>
            </a:pPr>
            <a:r>
              <a:rPr lang="en-US" b="true" sz="5565" spc="-378">
                <a:solidFill>
                  <a:srgbClr val="FF4141"/>
                </a:solidFill>
                <a:latin typeface="Agrandir Bold"/>
                <a:ea typeface="Agrandir Bold"/>
                <a:cs typeface="Agrandir Bold"/>
                <a:sym typeface="Agrandir Bold"/>
              </a:rPr>
              <a:t>Part I: Technical Assistance </a:t>
            </a:r>
          </a:p>
        </p:txBody>
      </p:sp>
      <p:sp>
        <p:nvSpPr>
          <p:cNvPr name="TextBox 7" id="7"/>
          <p:cNvSpPr txBox="true"/>
          <p:nvPr/>
        </p:nvSpPr>
        <p:spPr>
          <a:xfrm rot="0">
            <a:off x="522767" y="1512374"/>
            <a:ext cx="13691327" cy="1240155"/>
          </a:xfrm>
          <a:prstGeom prst="rect">
            <a:avLst/>
          </a:prstGeom>
        </p:spPr>
        <p:txBody>
          <a:bodyPr anchor="t" rtlCol="false" tIns="0" lIns="0" bIns="0" rIns="0">
            <a:spAutoFit/>
          </a:bodyPr>
          <a:lstStyle/>
          <a:p>
            <a:pPr algn="just">
              <a:lnSpc>
                <a:spcPts val="2520"/>
              </a:lnSpc>
            </a:pPr>
            <a:r>
              <a:rPr lang="en-US" sz="1800">
                <a:solidFill>
                  <a:srgbClr val="191919"/>
                </a:solidFill>
                <a:latin typeface="Open Sans"/>
                <a:ea typeface="Open Sans"/>
                <a:cs typeface="Open Sans"/>
                <a:sym typeface="Open Sans"/>
              </a:rPr>
              <a:t>My goal was to compare how different child care centers performed before and after receiving Technical Assistance. Step Up to Quality is a three-star rating system used by the state of Ohio to measure child care center quality. I wanted to know if TA was helping childcare centers in Northeast Ohio improve their SUTQ ratings. After doing preliminary data exploration I used Excel to identify child care center’s first and last SUTQ ratings and which types of TA were driving the most change. </a:t>
            </a:r>
          </a:p>
        </p:txBody>
      </p:sp>
      <p:grpSp>
        <p:nvGrpSpPr>
          <p:cNvPr name="Group 8" id="8"/>
          <p:cNvGrpSpPr/>
          <p:nvPr/>
        </p:nvGrpSpPr>
        <p:grpSpPr>
          <a:xfrm rot="0">
            <a:off x="2813975" y="6566206"/>
            <a:ext cx="2427590" cy="2932738"/>
            <a:chOff x="0" y="0"/>
            <a:chExt cx="639365" cy="772408"/>
          </a:xfrm>
        </p:grpSpPr>
        <p:sp>
          <p:nvSpPr>
            <p:cNvPr name="Freeform 9" id="9"/>
            <p:cNvSpPr/>
            <p:nvPr/>
          </p:nvSpPr>
          <p:spPr>
            <a:xfrm flipH="false" flipV="false" rot="0">
              <a:off x="0" y="0"/>
              <a:ext cx="639365" cy="772408"/>
            </a:xfrm>
            <a:custGeom>
              <a:avLst/>
              <a:gdLst/>
              <a:ahLst/>
              <a:cxnLst/>
              <a:rect r="r" b="b" t="t" l="l"/>
              <a:pathLst>
                <a:path h="772408" w="639365">
                  <a:moveTo>
                    <a:pt x="0" y="0"/>
                  </a:moveTo>
                  <a:lnTo>
                    <a:pt x="639365" y="0"/>
                  </a:lnTo>
                  <a:lnTo>
                    <a:pt x="639365" y="772408"/>
                  </a:lnTo>
                  <a:lnTo>
                    <a:pt x="0" y="772408"/>
                  </a:lnTo>
                  <a:close/>
                </a:path>
              </a:pathLst>
            </a:custGeom>
            <a:solidFill>
              <a:srgbClr val="F9F5F5"/>
            </a:solidFill>
          </p:spPr>
        </p:sp>
        <p:sp>
          <p:nvSpPr>
            <p:cNvPr name="TextBox 10" id="10"/>
            <p:cNvSpPr txBox="true"/>
            <p:nvPr/>
          </p:nvSpPr>
          <p:spPr>
            <a:xfrm>
              <a:off x="0" y="-38100"/>
              <a:ext cx="639365" cy="810508"/>
            </a:xfrm>
            <a:prstGeom prst="rect">
              <a:avLst/>
            </a:prstGeom>
          </p:spPr>
          <p:txBody>
            <a:bodyPr anchor="ctr" rtlCol="false" tIns="50800" lIns="50800" bIns="50800" rIns="50800"/>
            <a:lstStyle/>
            <a:p>
              <a:pPr algn="ctr">
                <a:lnSpc>
                  <a:spcPts val="2939"/>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9F5F5"/>
        </a:solidFill>
      </p:bgPr>
    </p:bg>
    <p:spTree>
      <p:nvGrpSpPr>
        <p:cNvPr id="1" name=""/>
        <p:cNvGrpSpPr/>
        <p:nvPr/>
      </p:nvGrpSpPr>
      <p:grpSpPr>
        <a:xfrm>
          <a:off x="0" y="0"/>
          <a:ext cx="0" cy="0"/>
          <a:chOff x="0" y="0"/>
          <a:chExt cx="0" cy="0"/>
        </a:xfrm>
      </p:grpSpPr>
      <p:sp>
        <p:nvSpPr>
          <p:cNvPr name="Freeform 2" id="2"/>
          <p:cNvSpPr/>
          <p:nvPr/>
        </p:nvSpPr>
        <p:spPr>
          <a:xfrm flipH="false" flipV="false" rot="0">
            <a:off x="1338679" y="765102"/>
            <a:ext cx="15610642" cy="8756796"/>
          </a:xfrm>
          <a:custGeom>
            <a:avLst/>
            <a:gdLst/>
            <a:ahLst/>
            <a:cxnLst/>
            <a:rect r="r" b="b" t="t" l="l"/>
            <a:pathLst>
              <a:path h="8756796" w="15610642">
                <a:moveTo>
                  <a:pt x="0" y="0"/>
                </a:moveTo>
                <a:lnTo>
                  <a:pt x="15610642" y="0"/>
                </a:lnTo>
                <a:lnTo>
                  <a:pt x="15610642" y="8756796"/>
                </a:lnTo>
                <a:lnTo>
                  <a:pt x="0" y="8756796"/>
                </a:lnTo>
                <a:lnTo>
                  <a:pt x="0" y="0"/>
                </a:lnTo>
                <a:close/>
              </a:path>
            </a:pathLst>
          </a:custGeom>
          <a:blipFill>
            <a:blip r:embed="rId2"/>
            <a:stretch>
              <a:fillRect l="0" t="0" r="0" b="0"/>
            </a:stretch>
          </a:blipFill>
        </p:spPr>
      </p:sp>
      <p:grpSp>
        <p:nvGrpSpPr>
          <p:cNvPr name="Group 3" id="3"/>
          <p:cNvGrpSpPr/>
          <p:nvPr/>
        </p:nvGrpSpPr>
        <p:grpSpPr>
          <a:xfrm rot="0">
            <a:off x="12451957" y="5324018"/>
            <a:ext cx="2981937" cy="3845000"/>
            <a:chOff x="0" y="0"/>
            <a:chExt cx="785366" cy="1012675"/>
          </a:xfrm>
        </p:grpSpPr>
        <p:sp>
          <p:nvSpPr>
            <p:cNvPr name="Freeform 4" id="4"/>
            <p:cNvSpPr/>
            <p:nvPr/>
          </p:nvSpPr>
          <p:spPr>
            <a:xfrm flipH="false" flipV="false" rot="0">
              <a:off x="0" y="0"/>
              <a:ext cx="785366" cy="1012675"/>
            </a:xfrm>
            <a:custGeom>
              <a:avLst/>
              <a:gdLst/>
              <a:ahLst/>
              <a:cxnLst/>
              <a:rect r="r" b="b" t="t" l="l"/>
              <a:pathLst>
                <a:path h="1012675" w="785366">
                  <a:moveTo>
                    <a:pt x="0" y="0"/>
                  </a:moveTo>
                  <a:lnTo>
                    <a:pt x="785366" y="0"/>
                  </a:lnTo>
                  <a:lnTo>
                    <a:pt x="785366" y="1012675"/>
                  </a:lnTo>
                  <a:lnTo>
                    <a:pt x="0" y="1012675"/>
                  </a:lnTo>
                  <a:close/>
                </a:path>
              </a:pathLst>
            </a:custGeom>
            <a:solidFill>
              <a:srgbClr val="F9F5F5"/>
            </a:solidFill>
          </p:spPr>
        </p:sp>
        <p:sp>
          <p:nvSpPr>
            <p:cNvPr name="TextBox 5" id="5"/>
            <p:cNvSpPr txBox="true"/>
            <p:nvPr/>
          </p:nvSpPr>
          <p:spPr>
            <a:xfrm>
              <a:off x="0" y="-38100"/>
              <a:ext cx="785366" cy="1050775"/>
            </a:xfrm>
            <a:prstGeom prst="rect">
              <a:avLst/>
            </a:prstGeom>
          </p:spPr>
          <p:txBody>
            <a:bodyPr anchor="ctr" rtlCol="false" tIns="50800" lIns="50800" bIns="50800" rIns="50800"/>
            <a:lstStyle/>
            <a:p>
              <a:pPr algn="ctr">
                <a:lnSpc>
                  <a:spcPts val="293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9F5F5"/>
        </a:solidFill>
      </p:bgPr>
    </p:bg>
    <p:spTree>
      <p:nvGrpSpPr>
        <p:cNvPr id="1" name=""/>
        <p:cNvGrpSpPr/>
        <p:nvPr/>
      </p:nvGrpSpPr>
      <p:grpSpPr>
        <a:xfrm>
          <a:off x="0" y="0"/>
          <a:ext cx="0" cy="0"/>
          <a:chOff x="0" y="0"/>
          <a:chExt cx="0" cy="0"/>
        </a:xfrm>
      </p:grpSpPr>
      <p:sp>
        <p:nvSpPr>
          <p:cNvPr name="Freeform 2" id="2"/>
          <p:cNvSpPr/>
          <p:nvPr/>
        </p:nvSpPr>
        <p:spPr>
          <a:xfrm flipH="false" flipV="false" rot="0">
            <a:off x="1436537" y="1028700"/>
            <a:ext cx="15414926" cy="8647009"/>
          </a:xfrm>
          <a:custGeom>
            <a:avLst/>
            <a:gdLst/>
            <a:ahLst/>
            <a:cxnLst/>
            <a:rect r="r" b="b" t="t" l="l"/>
            <a:pathLst>
              <a:path h="8647009" w="15414926">
                <a:moveTo>
                  <a:pt x="0" y="0"/>
                </a:moveTo>
                <a:lnTo>
                  <a:pt x="15414926" y="0"/>
                </a:lnTo>
                <a:lnTo>
                  <a:pt x="15414926" y="8647009"/>
                </a:lnTo>
                <a:lnTo>
                  <a:pt x="0" y="8647009"/>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9F5F5"/>
        </a:solidFill>
      </p:bgPr>
    </p:bg>
    <p:spTree>
      <p:nvGrpSpPr>
        <p:cNvPr id="1" name=""/>
        <p:cNvGrpSpPr/>
        <p:nvPr/>
      </p:nvGrpSpPr>
      <p:grpSpPr>
        <a:xfrm>
          <a:off x="0" y="0"/>
          <a:ext cx="0" cy="0"/>
          <a:chOff x="0" y="0"/>
          <a:chExt cx="0" cy="0"/>
        </a:xfrm>
      </p:grpSpPr>
      <p:sp>
        <p:nvSpPr>
          <p:cNvPr name="Freeform 2" id="2"/>
          <p:cNvSpPr/>
          <p:nvPr/>
        </p:nvSpPr>
        <p:spPr>
          <a:xfrm flipH="false" flipV="false" rot="0">
            <a:off x="2158589" y="1537621"/>
            <a:ext cx="13970822" cy="7873938"/>
          </a:xfrm>
          <a:custGeom>
            <a:avLst/>
            <a:gdLst/>
            <a:ahLst/>
            <a:cxnLst/>
            <a:rect r="r" b="b" t="t" l="l"/>
            <a:pathLst>
              <a:path h="7873938" w="13970822">
                <a:moveTo>
                  <a:pt x="0" y="0"/>
                </a:moveTo>
                <a:lnTo>
                  <a:pt x="13970822" y="0"/>
                </a:lnTo>
                <a:lnTo>
                  <a:pt x="13970822" y="7873938"/>
                </a:lnTo>
                <a:lnTo>
                  <a:pt x="0" y="7873938"/>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9F5F5"/>
        </a:solidFill>
      </p:bgPr>
    </p:bg>
    <p:spTree>
      <p:nvGrpSpPr>
        <p:cNvPr id="1" name=""/>
        <p:cNvGrpSpPr/>
        <p:nvPr/>
      </p:nvGrpSpPr>
      <p:grpSpPr>
        <a:xfrm>
          <a:off x="0" y="0"/>
          <a:ext cx="0" cy="0"/>
          <a:chOff x="0" y="0"/>
          <a:chExt cx="0" cy="0"/>
        </a:xfrm>
      </p:grpSpPr>
      <p:sp>
        <p:nvSpPr>
          <p:cNvPr name="Freeform 2" id="2"/>
          <p:cNvSpPr/>
          <p:nvPr/>
        </p:nvSpPr>
        <p:spPr>
          <a:xfrm flipH="false" flipV="false" rot="0">
            <a:off x="1520909" y="862902"/>
            <a:ext cx="15246183" cy="8561197"/>
          </a:xfrm>
          <a:custGeom>
            <a:avLst/>
            <a:gdLst/>
            <a:ahLst/>
            <a:cxnLst/>
            <a:rect r="r" b="b" t="t" l="l"/>
            <a:pathLst>
              <a:path h="8561197" w="15246183">
                <a:moveTo>
                  <a:pt x="0" y="0"/>
                </a:moveTo>
                <a:lnTo>
                  <a:pt x="15246182" y="0"/>
                </a:lnTo>
                <a:lnTo>
                  <a:pt x="15246182" y="8561196"/>
                </a:lnTo>
                <a:lnTo>
                  <a:pt x="0" y="8561196"/>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9F5F5"/>
        </a:solidFill>
      </p:bgPr>
    </p:bg>
    <p:spTree>
      <p:nvGrpSpPr>
        <p:cNvPr id="1" name=""/>
        <p:cNvGrpSpPr/>
        <p:nvPr/>
      </p:nvGrpSpPr>
      <p:grpSpPr>
        <a:xfrm>
          <a:off x="0" y="0"/>
          <a:ext cx="0" cy="0"/>
          <a:chOff x="0" y="0"/>
          <a:chExt cx="0" cy="0"/>
        </a:xfrm>
      </p:grpSpPr>
      <p:sp>
        <p:nvSpPr>
          <p:cNvPr name="Freeform 2" id="2"/>
          <p:cNvSpPr/>
          <p:nvPr/>
        </p:nvSpPr>
        <p:spPr>
          <a:xfrm flipH="false" flipV="false" rot="0">
            <a:off x="2593674" y="3246877"/>
            <a:ext cx="12088785" cy="6820907"/>
          </a:xfrm>
          <a:custGeom>
            <a:avLst/>
            <a:gdLst/>
            <a:ahLst/>
            <a:cxnLst/>
            <a:rect r="r" b="b" t="t" l="l"/>
            <a:pathLst>
              <a:path h="6820907" w="12088785">
                <a:moveTo>
                  <a:pt x="0" y="0"/>
                </a:moveTo>
                <a:lnTo>
                  <a:pt x="12088785" y="0"/>
                </a:lnTo>
                <a:lnTo>
                  <a:pt x="12088785" y="6820907"/>
                </a:lnTo>
                <a:lnTo>
                  <a:pt x="0" y="6820907"/>
                </a:lnTo>
                <a:lnTo>
                  <a:pt x="0" y="0"/>
                </a:lnTo>
                <a:close/>
              </a:path>
            </a:pathLst>
          </a:custGeom>
          <a:blipFill>
            <a:blip r:embed="rId2"/>
            <a:stretch>
              <a:fillRect l="0" t="0" r="0" b="0"/>
            </a:stretch>
          </a:blipFill>
        </p:spPr>
      </p:sp>
      <p:grpSp>
        <p:nvGrpSpPr>
          <p:cNvPr name="Group 3" id="3"/>
          <p:cNvGrpSpPr/>
          <p:nvPr/>
        </p:nvGrpSpPr>
        <p:grpSpPr>
          <a:xfrm rot="0">
            <a:off x="3107072" y="3689732"/>
            <a:ext cx="1553420" cy="3115861"/>
            <a:chOff x="0" y="0"/>
            <a:chExt cx="409131" cy="820638"/>
          </a:xfrm>
        </p:grpSpPr>
        <p:sp>
          <p:nvSpPr>
            <p:cNvPr name="Freeform 4" id="4"/>
            <p:cNvSpPr/>
            <p:nvPr/>
          </p:nvSpPr>
          <p:spPr>
            <a:xfrm flipH="false" flipV="false" rot="0">
              <a:off x="0" y="0"/>
              <a:ext cx="409131" cy="820638"/>
            </a:xfrm>
            <a:custGeom>
              <a:avLst/>
              <a:gdLst/>
              <a:ahLst/>
              <a:cxnLst/>
              <a:rect r="r" b="b" t="t" l="l"/>
              <a:pathLst>
                <a:path h="820638" w="409131">
                  <a:moveTo>
                    <a:pt x="0" y="0"/>
                  </a:moveTo>
                  <a:lnTo>
                    <a:pt x="409131" y="0"/>
                  </a:lnTo>
                  <a:lnTo>
                    <a:pt x="409131" y="820638"/>
                  </a:lnTo>
                  <a:lnTo>
                    <a:pt x="0" y="820638"/>
                  </a:lnTo>
                  <a:close/>
                </a:path>
              </a:pathLst>
            </a:custGeom>
            <a:solidFill>
              <a:srgbClr val="F9F5F5"/>
            </a:solidFill>
          </p:spPr>
        </p:sp>
        <p:sp>
          <p:nvSpPr>
            <p:cNvPr name="TextBox 5" id="5"/>
            <p:cNvSpPr txBox="true"/>
            <p:nvPr/>
          </p:nvSpPr>
          <p:spPr>
            <a:xfrm>
              <a:off x="0" y="-38100"/>
              <a:ext cx="409131" cy="858738"/>
            </a:xfrm>
            <a:prstGeom prst="rect">
              <a:avLst/>
            </a:prstGeom>
          </p:spPr>
          <p:txBody>
            <a:bodyPr anchor="ctr" rtlCol="false" tIns="50800" lIns="50800" bIns="50800" rIns="50800"/>
            <a:lstStyle/>
            <a:p>
              <a:pPr algn="ctr">
                <a:lnSpc>
                  <a:spcPts val="2939"/>
                </a:lnSpc>
              </a:pPr>
            </a:p>
          </p:txBody>
        </p:sp>
      </p:grpSp>
      <p:sp>
        <p:nvSpPr>
          <p:cNvPr name="TextBox 6" id="6"/>
          <p:cNvSpPr txBox="true"/>
          <p:nvPr/>
        </p:nvSpPr>
        <p:spPr>
          <a:xfrm rot="0">
            <a:off x="522767" y="686879"/>
            <a:ext cx="14821437" cy="854071"/>
          </a:xfrm>
          <a:prstGeom prst="rect">
            <a:avLst/>
          </a:prstGeom>
        </p:spPr>
        <p:txBody>
          <a:bodyPr anchor="t" rtlCol="false" tIns="0" lIns="0" bIns="0" rIns="0">
            <a:spAutoFit/>
          </a:bodyPr>
          <a:lstStyle/>
          <a:p>
            <a:pPr algn="l">
              <a:lnSpc>
                <a:spcPts val="5008"/>
              </a:lnSpc>
            </a:pPr>
            <a:r>
              <a:rPr lang="en-US" b="true" sz="5565" spc="-378">
                <a:solidFill>
                  <a:srgbClr val="FF4141"/>
                </a:solidFill>
                <a:latin typeface="Agrandir Bold"/>
                <a:ea typeface="Agrandir Bold"/>
                <a:cs typeface="Agrandir Bold"/>
                <a:sym typeface="Agrandir Bold"/>
              </a:rPr>
              <a:t>Part II: Devereux Early Childhood Assessment</a:t>
            </a:r>
          </a:p>
        </p:txBody>
      </p:sp>
      <p:sp>
        <p:nvSpPr>
          <p:cNvPr name="TextBox 7" id="7"/>
          <p:cNvSpPr txBox="true"/>
          <p:nvPr/>
        </p:nvSpPr>
        <p:spPr>
          <a:xfrm rot="0">
            <a:off x="556647" y="1378072"/>
            <a:ext cx="12619938" cy="1868805"/>
          </a:xfrm>
          <a:prstGeom prst="rect">
            <a:avLst/>
          </a:prstGeom>
        </p:spPr>
        <p:txBody>
          <a:bodyPr anchor="t" rtlCol="false" tIns="0" lIns="0" bIns="0" rIns="0">
            <a:spAutoFit/>
          </a:bodyPr>
          <a:lstStyle/>
          <a:p>
            <a:pPr algn="just">
              <a:lnSpc>
                <a:spcPts val="2520"/>
              </a:lnSpc>
            </a:pPr>
            <a:r>
              <a:rPr lang="en-US" sz="1800">
                <a:solidFill>
                  <a:srgbClr val="191919"/>
                </a:solidFill>
                <a:latin typeface="Open Sans"/>
                <a:ea typeface="Open Sans"/>
                <a:cs typeface="Open Sans"/>
                <a:sym typeface="Open Sans"/>
              </a:rPr>
              <a:t>My goal was to compare how children across different child care centers performed developmentally before and after undergoing evaluation by an early childhood development assessment called DECA. TPF stands for total protective factors and is the most comprehensive measure which is why I analyzed t-scores from this category. I then, using Excel, calculated each child’s (with 2+ sessions) score improvement and categorized them by Improved, Declined and No Change and compared which sites had the highest improvement rates to determine where children are performing the strongest.</a:t>
            </a:r>
          </a:p>
        </p:txBody>
      </p:sp>
      <p:grpSp>
        <p:nvGrpSpPr>
          <p:cNvPr name="Group 8" id="8"/>
          <p:cNvGrpSpPr/>
          <p:nvPr/>
        </p:nvGrpSpPr>
        <p:grpSpPr>
          <a:xfrm rot="0">
            <a:off x="2794584" y="7934029"/>
            <a:ext cx="1255812" cy="1895669"/>
            <a:chOff x="0" y="0"/>
            <a:chExt cx="330749" cy="499271"/>
          </a:xfrm>
        </p:grpSpPr>
        <p:sp>
          <p:nvSpPr>
            <p:cNvPr name="Freeform 9" id="9"/>
            <p:cNvSpPr/>
            <p:nvPr/>
          </p:nvSpPr>
          <p:spPr>
            <a:xfrm flipH="false" flipV="false" rot="0">
              <a:off x="0" y="0"/>
              <a:ext cx="330749" cy="499271"/>
            </a:xfrm>
            <a:custGeom>
              <a:avLst/>
              <a:gdLst/>
              <a:ahLst/>
              <a:cxnLst/>
              <a:rect r="r" b="b" t="t" l="l"/>
              <a:pathLst>
                <a:path h="499271" w="330749">
                  <a:moveTo>
                    <a:pt x="0" y="0"/>
                  </a:moveTo>
                  <a:lnTo>
                    <a:pt x="330749" y="0"/>
                  </a:lnTo>
                  <a:lnTo>
                    <a:pt x="330749" y="499271"/>
                  </a:lnTo>
                  <a:lnTo>
                    <a:pt x="0" y="499271"/>
                  </a:lnTo>
                  <a:close/>
                </a:path>
              </a:pathLst>
            </a:custGeom>
            <a:solidFill>
              <a:srgbClr val="F9F5F5"/>
            </a:solidFill>
          </p:spPr>
        </p:sp>
        <p:sp>
          <p:nvSpPr>
            <p:cNvPr name="TextBox 10" id="10"/>
            <p:cNvSpPr txBox="true"/>
            <p:nvPr/>
          </p:nvSpPr>
          <p:spPr>
            <a:xfrm>
              <a:off x="0" y="-38100"/>
              <a:ext cx="330749" cy="537371"/>
            </a:xfrm>
            <a:prstGeom prst="rect">
              <a:avLst/>
            </a:prstGeom>
          </p:spPr>
          <p:txBody>
            <a:bodyPr anchor="ctr" rtlCol="false" tIns="50800" lIns="50800" bIns="50800" rIns="50800"/>
            <a:lstStyle/>
            <a:p>
              <a:pPr algn="ctr">
                <a:lnSpc>
                  <a:spcPts val="2939"/>
                </a:lnSpc>
              </a:pPr>
            </a:p>
          </p:txBody>
        </p:sp>
      </p:grpSp>
      <p:grpSp>
        <p:nvGrpSpPr>
          <p:cNvPr name="Group 11" id="11"/>
          <p:cNvGrpSpPr/>
          <p:nvPr/>
        </p:nvGrpSpPr>
        <p:grpSpPr>
          <a:xfrm rot="0">
            <a:off x="9144000" y="8975657"/>
            <a:ext cx="5228876" cy="854041"/>
            <a:chOff x="0" y="0"/>
            <a:chExt cx="1377153" cy="224933"/>
          </a:xfrm>
        </p:grpSpPr>
        <p:sp>
          <p:nvSpPr>
            <p:cNvPr name="Freeform 12" id="12"/>
            <p:cNvSpPr/>
            <p:nvPr/>
          </p:nvSpPr>
          <p:spPr>
            <a:xfrm flipH="false" flipV="false" rot="0">
              <a:off x="0" y="0"/>
              <a:ext cx="1377153" cy="224933"/>
            </a:xfrm>
            <a:custGeom>
              <a:avLst/>
              <a:gdLst/>
              <a:ahLst/>
              <a:cxnLst/>
              <a:rect r="r" b="b" t="t" l="l"/>
              <a:pathLst>
                <a:path h="224933" w="1377153">
                  <a:moveTo>
                    <a:pt x="0" y="0"/>
                  </a:moveTo>
                  <a:lnTo>
                    <a:pt x="1377153" y="0"/>
                  </a:lnTo>
                  <a:lnTo>
                    <a:pt x="1377153" y="224933"/>
                  </a:lnTo>
                  <a:lnTo>
                    <a:pt x="0" y="224933"/>
                  </a:lnTo>
                  <a:close/>
                </a:path>
              </a:pathLst>
            </a:custGeom>
            <a:solidFill>
              <a:srgbClr val="F9F5F5"/>
            </a:solidFill>
          </p:spPr>
        </p:sp>
        <p:sp>
          <p:nvSpPr>
            <p:cNvPr name="TextBox 13" id="13"/>
            <p:cNvSpPr txBox="true"/>
            <p:nvPr/>
          </p:nvSpPr>
          <p:spPr>
            <a:xfrm>
              <a:off x="0" y="-38100"/>
              <a:ext cx="1377153" cy="263033"/>
            </a:xfrm>
            <a:prstGeom prst="rect">
              <a:avLst/>
            </a:prstGeom>
          </p:spPr>
          <p:txBody>
            <a:bodyPr anchor="ctr" rtlCol="false" tIns="50800" lIns="50800" bIns="50800" rIns="50800"/>
            <a:lstStyle/>
            <a:p>
              <a:pPr algn="ctr">
                <a:lnSpc>
                  <a:spcPts val="2939"/>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9F5F5"/>
        </a:solidFill>
      </p:bgPr>
    </p:bg>
    <p:spTree>
      <p:nvGrpSpPr>
        <p:cNvPr id="1" name=""/>
        <p:cNvGrpSpPr/>
        <p:nvPr/>
      </p:nvGrpSpPr>
      <p:grpSpPr>
        <a:xfrm>
          <a:off x="0" y="0"/>
          <a:ext cx="0" cy="0"/>
          <a:chOff x="0" y="0"/>
          <a:chExt cx="0" cy="0"/>
        </a:xfrm>
      </p:grpSpPr>
      <p:sp>
        <p:nvSpPr>
          <p:cNvPr name="Freeform 2" id="2"/>
          <p:cNvSpPr/>
          <p:nvPr/>
        </p:nvSpPr>
        <p:spPr>
          <a:xfrm flipH="false" flipV="false" rot="0">
            <a:off x="1823925" y="1028700"/>
            <a:ext cx="14640151" cy="8220891"/>
          </a:xfrm>
          <a:custGeom>
            <a:avLst/>
            <a:gdLst/>
            <a:ahLst/>
            <a:cxnLst/>
            <a:rect r="r" b="b" t="t" l="l"/>
            <a:pathLst>
              <a:path h="8220891" w="14640151">
                <a:moveTo>
                  <a:pt x="0" y="0"/>
                </a:moveTo>
                <a:lnTo>
                  <a:pt x="14640150" y="0"/>
                </a:lnTo>
                <a:lnTo>
                  <a:pt x="14640150" y="8220891"/>
                </a:lnTo>
                <a:lnTo>
                  <a:pt x="0" y="8220891"/>
                </a:lnTo>
                <a:lnTo>
                  <a:pt x="0" y="0"/>
                </a:lnTo>
                <a:close/>
              </a:path>
            </a:pathLst>
          </a:custGeom>
          <a:blipFill>
            <a:blip r:embed="rId2"/>
            <a:stretch>
              <a:fillRect l="0" t="0" r="0" b="0"/>
            </a:stretch>
          </a:blipFill>
        </p:spPr>
      </p:sp>
      <p:grpSp>
        <p:nvGrpSpPr>
          <p:cNvPr name="Group 3" id="3"/>
          <p:cNvGrpSpPr/>
          <p:nvPr/>
        </p:nvGrpSpPr>
        <p:grpSpPr>
          <a:xfrm rot="0">
            <a:off x="2348172" y="1829684"/>
            <a:ext cx="2074233" cy="6835958"/>
            <a:chOff x="0" y="0"/>
            <a:chExt cx="546300" cy="1800417"/>
          </a:xfrm>
        </p:grpSpPr>
        <p:sp>
          <p:nvSpPr>
            <p:cNvPr name="Freeform 4" id="4"/>
            <p:cNvSpPr/>
            <p:nvPr/>
          </p:nvSpPr>
          <p:spPr>
            <a:xfrm flipH="false" flipV="false" rot="0">
              <a:off x="0" y="0"/>
              <a:ext cx="546300" cy="1800417"/>
            </a:xfrm>
            <a:custGeom>
              <a:avLst/>
              <a:gdLst/>
              <a:ahLst/>
              <a:cxnLst/>
              <a:rect r="r" b="b" t="t" l="l"/>
              <a:pathLst>
                <a:path h="1800417" w="546300">
                  <a:moveTo>
                    <a:pt x="0" y="0"/>
                  </a:moveTo>
                  <a:lnTo>
                    <a:pt x="546300" y="0"/>
                  </a:lnTo>
                  <a:lnTo>
                    <a:pt x="546300" y="1800417"/>
                  </a:lnTo>
                  <a:lnTo>
                    <a:pt x="0" y="1800417"/>
                  </a:lnTo>
                  <a:close/>
                </a:path>
              </a:pathLst>
            </a:custGeom>
            <a:solidFill>
              <a:srgbClr val="F9F5F5"/>
            </a:solidFill>
          </p:spPr>
        </p:sp>
        <p:sp>
          <p:nvSpPr>
            <p:cNvPr name="TextBox 5" id="5"/>
            <p:cNvSpPr txBox="true"/>
            <p:nvPr/>
          </p:nvSpPr>
          <p:spPr>
            <a:xfrm>
              <a:off x="0" y="-38100"/>
              <a:ext cx="546300" cy="1838517"/>
            </a:xfrm>
            <a:prstGeom prst="rect">
              <a:avLst/>
            </a:prstGeom>
          </p:spPr>
          <p:txBody>
            <a:bodyPr anchor="ctr" rtlCol="false" tIns="50800" lIns="50800" bIns="50800" rIns="50800"/>
            <a:lstStyle/>
            <a:p>
              <a:pPr algn="ctr">
                <a:lnSpc>
                  <a:spcPts val="2939"/>
                </a:lnSpc>
              </a:pPr>
            </a:p>
          </p:txBody>
        </p:sp>
      </p:grpSp>
      <p:grpSp>
        <p:nvGrpSpPr>
          <p:cNvPr name="Group 6" id="6"/>
          <p:cNvGrpSpPr/>
          <p:nvPr/>
        </p:nvGrpSpPr>
        <p:grpSpPr>
          <a:xfrm rot="0">
            <a:off x="11175840" y="1661645"/>
            <a:ext cx="2356961" cy="3324186"/>
            <a:chOff x="0" y="0"/>
            <a:chExt cx="620763" cy="875506"/>
          </a:xfrm>
        </p:grpSpPr>
        <p:sp>
          <p:nvSpPr>
            <p:cNvPr name="Freeform 7" id="7"/>
            <p:cNvSpPr/>
            <p:nvPr/>
          </p:nvSpPr>
          <p:spPr>
            <a:xfrm flipH="false" flipV="false" rot="0">
              <a:off x="0" y="0"/>
              <a:ext cx="620763" cy="875506"/>
            </a:xfrm>
            <a:custGeom>
              <a:avLst/>
              <a:gdLst/>
              <a:ahLst/>
              <a:cxnLst/>
              <a:rect r="r" b="b" t="t" l="l"/>
              <a:pathLst>
                <a:path h="875506" w="620763">
                  <a:moveTo>
                    <a:pt x="0" y="0"/>
                  </a:moveTo>
                  <a:lnTo>
                    <a:pt x="620763" y="0"/>
                  </a:lnTo>
                  <a:lnTo>
                    <a:pt x="620763" y="875506"/>
                  </a:lnTo>
                  <a:lnTo>
                    <a:pt x="0" y="875506"/>
                  </a:lnTo>
                  <a:close/>
                </a:path>
              </a:pathLst>
            </a:custGeom>
            <a:solidFill>
              <a:srgbClr val="F9F5F5"/>
            </a:solidFill>
          </p:spPr>
        </p:sp>
        <p:sp>
          <p:nvSpPr>
            <p:cNvPr name="TextBox 8" id="8"/>
            <p:cNvSpPr txBox="true"/>
            <p:nvPr/>
          </p:nvSpPr>
          <p:spPr>
            <a:xfrm>
              <a:off x="0" y="-38100"/>
              <a:ext cx="620763" cy="913606"/>
            </a:xfrm>
            <a:prstGeom prst="rect">
              <a:avLst/>
            </a:prstGeom>
          </p:spPr>
          <p:txBody>
            <a:bodyPr anchor="ctr" rtlCol="false" tIns="50800" lIns="50800" bIns="50800" rIns="50800"/>
            <a:lstStyle/>
            <a:p>
              <a:pPr algn="ctr">
                <a:lnSpc>
                  <a:spcPts val="2939"/>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9F5F5"/>
        </a:solidFill>
      </p:bgPr>
    </p:bg>
    <p:spTree>
      <p:nvGrpSpPr>
        <p:cNvPr id="1" name=""/>
        <p:cNvGrpSpPr/>
        <p:nvPr/>
      </p:nvGrpSpPr>
      <p:grpSpPr>
        <a:xfrm>
          <a:off x="0" y="0"/>
          <a:ext cx="0" cy="0"/>
          <a:chOff x="0" y="0"/>
          <a:chExt cx="0" cy="0"/>
        </a:xfrm>
      </p:grpSpPr>
      <p:sp>
        <p:nvSpPr>
          <p:cNvPr name="Freeform 2" id="2"/>
          <p:cNvSpPr/>
          <p:nvPr/>
        </p:nvSpPr>
        <p:spPr>
          <a:xfrm flipH="false" flipV="false" rot="0">
            <a:off x="1656701" y="953995"/>
            <a:ext cx="14974598" cy="8379010"/>
          </a:xfrm>
          <a:custGeom>
            <a:avLst/>
            <a:gdLst/>
            <a:ahLst/>
            <a:cxnLst/>
            <a:rect r="r" b="b" t="t" l="l"/>
            <a:pathLst>
              <a:path h="8379010" w="14974598">
                <a:moveTo>
                  <a:pt x="0" y="0"/>
                </a:moveTo>
                <a:lnTo>
                  <a:pt x="14974598" y="0"/>
                </a:lnTo>
                <a:lnTo>
                  <a:pt x="14974598" y="8379010"/>
                </a:lnTo>
                <a:lnTo>
                  <a:pt x="0" y="8379010"/>
                </a:lnTo>
                <a:lnTo>
                  <a:pt x="0" y="0"/>
                </a:lnTo>
                <a:close/>
              </a:path>
            </a:pathLst>
          </a:custGeom>
          <a:blipFill>
            <a:blip r:embed="rId2"/>
            <a:stretch>
              <a:fillRect l="0" t="0" r="0" b="0"/>
            </a:stretch>
          </a:blipFill>
        </p:spPr>
      </p:sp>
      <p:grpSp>
        <p:nvGrpSpPr>
          <p:cNvPr name="Group 3" id="3"/>
          <p:cNvGrpSpPr/>
          <p:nvPr/>
        </p:nvGrpSpPr>
        <p:grpSpPr>
          <a:xfrm rot="0">
            <a:off x="1931521" y="7499112"/>
            <a:ext cx="7535337" cy="1389735"/>
            <a:chOff x="0" y="0"/>
            <a:chExt cx="1984615" cy="366021"/>
          </a:xfrm>
        </p:grpSpPr>
        <p:sp>
          <p:nvSpPr>
            <p:cNvPr name="Freeform 4" id="4"/>
            <p:cNvSpPr/>
            <p:nvPr/>
          </p:nvSpPr>
          <p:spPr>
            <a:xfrm flipH="false" flipV="false" rot="0">
              <a:off x="0" y="0"/>
              <a:ext cx="1984615" cy="366021"/>
            </a:xfrm>
            <a:custGeom>
              <a:avLst/>
              <a:gdLst/>
              <a:ahLst/>
              <a:cxnLst/>
              <a:rect r="r" b="b" t="t" l="l"/>
              <a:pathLst>
                <a:path h="366021" w="1984615">
                  <a:moveTo>
                    <a:pt x="0" y="0"/>
                  </a:moveTo>
                  <a:lnTo>
                    <a:pt x="1984615" y="0"/>
                  </a:lnTo>
                  <a:lnTo>
                    <a:pt x="1984615" y="366021"/>
                  </a:lnTo>
                  <a:lnTo>
                    <a:pt x="0" y="366021"/>
                  </a:lnTo>
                  <a:close/>
                </a:path>
              </a:pathLst>
            </a:custGeom>
            <a:solidFill>
              <a:srgbClr val="F9F5F5"/>
            </a:solidFill>
          </p:spPr>
        </p:sp>
        <p:sp>
          <p:nvSpPr>
            <p:cNvPr name="TextBox 5" id="5"/>
            <p:cNvSpPr txBox="true"/>
            <p:nvPr/>
          </p:nvSpPr>
          <p:spPr>
            <a:xfrm>
              <a:off x="0" y="-38100"/>
              <a:ext cx="1984615" cy="404121"/>
            </a:xfrm>
            <a:prstGeom prst="rect">
              <a:avLst/>
            </a:prstGeom>
          </p:spPr>
          <p:txBody>
            <a:bodyPr anchor="ctr" rtlCol="false" tIns="50800" lIns="50800" bIns="50800" rIns="50800"/>
            <a:lstStyle/>
            <a:p>
              <a:pPr algn="ctr">
                <a:lnSpc>
                  <a:spcPts val="2939"/>
                </a:lnSpc>
              </a:pPr>
            </a:p>
          </p:txBody>
        </p:sp>
      </p:grpSp>
      <p:grpSp>
        <p:nvGrpSpPr>
          <p:cNvPr name="Group 6" id="6"/>
          <p:cNvGrpSpPr/>
          <p:nvPr/>
        </p:nvGrpSpPr>
        <p:grpSpPr>
          <a:xfrm rot="0">
            <a:off x="9791964" y="1297586"/>
            <a:ext cx="2758731" cy="3487871"/>
            <a:chOff x="0" y="0"/>
            <a:chExt cx="726579" cy="918616"/>
          </a:xfrm>
        </p:grpSpPr>
        <p:sp>
          <p:nvSpPr>
            <p:cNvPr name="Freeform 7" id="7"/>
            <p:cNvSpPr/>
            <p:nvPr/>
          </p:nvSpPr>
          <p:spPr>
            <a:xfrm flipH="false" flipV="false" rot="0">
              <a:off x="0" y="0"/>
              <a:ext cx="726579" cy="918616"/>
            </a:xfrm>
            <a:custGeom>
              <a:avLst/>
              <a:gdLst/>
              <a:ahLst/>
              <a:cxnLst/>
              <a:rect r="r" b="b" t="t" l="l"/>
              <a:pathLst>
                <a:path h="918616" w="726579">
                  <a:moveTo>
                    <a:pt x="0" y="0"/>
                  </a:moveTo>
                  <a:lnTo>
                    <a:pt x="726579" y="0"/>
                  </a:lnTo>
                  <a:lnTo>
                    <a:pt x="726579" y="918616"/>
                  </a:lnTo>
                  <a:lnTo>
                    <a:pt x="0" y="918616"/>
                  </a:lnTo>
                  <a:close/>
                </a:path>
              </a:pathLst>
            </a:custGeom>
            <a:solidFill>
              <a:srgbClr val="F9F5F5"/>
            </a:solidFill>
          </p:spPr>
        </p:sp>
        <p:sp>
          <p:nvSpPr>
            <p:cNvPr name="TextBox 8" id="8"/>
            <p:cNvSpPr txBox="true"/>
            <p:nvPr/>
          </p:nvSpPr>
          <p:spPr>
            <a:xfrm>
              <a:off x="0" y="-38100"/>
              <a:ext cx="726579" cy="956716"/>
            </a:xfrm>
            <a:prstGeom prst="rect">
              <a:avLst/>
            </a:prstGeom>
          </p:spPr>
          <p:txBody>
            <a:bodyPr anchor="ctr" rtlCol="false" tIns="50800" lIns="50800" bIns="50800" rIns="50800"/>
            <a:lstStyle/>
            <a:p>
              <a:pPr algn="ctr">
                <a:lnSpc>
                  <a:spcPts val="2939"/>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9F5F5"/>
        </a:solidFill>
      </p:bgPr>
    </p:bg>
    <p:spTree>
      <p:nvGrpSpPr>
        <p:cNvPr id="1" name=""/>
        <p:cNvGrpSpPr/>
        <p:nvPr/>
      </p:nvGrpSpPr>
      <p:grpSpPr>
        <a:xfrm>
          <a:off x="0" y="0"/>
          <a:ext cx="0" cy="0"/>
          <a:chOff x="0" y="0"/>
          <a:chExt cx="0" cy="0"/>
        </a:xfrm>
      </p:grpSpPr>
      <p:sp>
        <p:nvSpPr>
          <p:cNvPr name="Freeform 2" id="2"/>
          <p:cNvSpPr/>
          <p:nvPr/>
        </p:nvSpPr>
        <p:spPr>
          <a:xfrm flipH="false" flipV="false" rot="0">
            <a:off x="1595356" y="905665"/>
            <a:ext cx="15097289" cy="8475671"/>
          </a:xfrm>
          <a:custGeom>
            <a:avLst/>
            <a:gdLst/>
            <a:ahLst/>
            <a:cxnLst/>
            <a:rect r="r" b="b" t="t" l="l"/>
            <a:pathLst>
              <a:path h="8475671" w="15097289">
                <a:moveTo>
                  <a:pt x="0" y="0"/>
                </a:moveTo>
                <a:lnTo>
                  <a:pt x="15097288" y="0"/>
                </a:lnTo>
                <a:lnTo>
                  <a:pt x="15097288" y="8475670"/>
                </a:lnTo>
                <a:lnTo>
                  <a:pt x="0" y="8475670"/>
                </a:lnTo>
                <a:lnTo>
                  <a:pt x="0" y="0"/>
                </a:lnTo>
                <a:close/>
              </a:path>
            </a:pathLst>
          </a:custGeom>
          <a:blipFill>
            <a:blip r:embed="rId2"/>
            <a:stretch>
              <a:fillRect l="0" t="0" r="0" b="0"/>
            </a:stretch>
          </a:blipFill>
        </p:spPr>
      </p:sp>
      <p:grpSp>
        <p:nvGrpSpPr>
          <p:cNvPr name="Group 3" id="3"/>
          <p:cNvGrpSpPr/>
          <p:nvPr/>
        </p:nvGrpSpPr>
        <p:grpSpPr>
          <a:xfrm rot="0">
            <a:off x="11276406" y="1774673"/>
            <a:ext cx="1300453" cy="2981937"/>
            <a:chOff x="0" y="0"/>
            <a:chExt cx="342506" cy="785366"/>
          </a:xfrm>
        </p:grpSpPr>
        <p:sp>
          <p:nvSpPr>
            <p:cNvPr name="Freeform 4" id="4"/>
            <p:cNvSpPr/>
            <p:nvPr/>
          </p:nvSpPr>
          <p:spPr>
            <a:xfrm flipH="false" flipV="false" rot="0">
              <a:off x="0" y="0"/>
              <a:ext cx="342506" cy="785366"/>
            </a:xfrm>
            <a:custGeom>
              <a:avLst/>
              <a:gdLst/>
              <a:ahLst/>
              <a:cxnLst/>
              <a:rect r="r" b="b" t="t" l="l"/>
              <a:pathLst>
                <a:path h="785366" w="342506">
                  <a:moveTo>
                    <a:pt x="0" y="0"/>
                  </a:moveTo>
                  <a:lnTo>
                    <a:pt x="342506" y="0"/>
                  </a:lnTo>
                  <a:lnTo>
                    <a:pt x="342506" y="785366"/>
                  </a:lnTo>
                  <a:lnTo>
                    <a:pt x="0" y="785366"/>
                  </a:lnTo>
                  <a:close/>
                </a:path>
              </a:pathLst>
            </a:custGeom>
            <a:solidFill>
              <a:srgbClr val="F9F5F5"/>
            </a:solidFill>
          </p:spPr>
        </p:sp>
        <p:sp>
          <p:nvSpPr>
            <p:cNvPr name="TextBox 5" id="5"/>
            <p:cNvSpPr txBox="true"/>
            <p:nvPr/>
          </p:nvSpPr>
          <p:spPr>
            <a:xfrm>
              <a:off x="0" y="-38100"/>
              <a:ext cx="342506" cy="823466"/>
            </a:xfrm>
            <a:prstGeom prst="rect">
              <a:avLst/>
            </a:prstGeom>
          </p:spPr>
          <p:txBody>
            <a:bodyPr anchor="ctr" rtlCol="false" tIns="50800" lIns="50800" bIns="50800" rIns="50800"/>
            <a:lstStyle/>
            <a:p>
              <a:pPr algn="ctr">
                <a:lnSpc>
                  <a:spcPts val="2939"/>
                </a:lnSpc>
              </a:pPr>
            </a:p>
          </p:txBody>
        </p:sp>
      </p:grpSp>
      <p:grpSp>
        <p:nvGrpSpPr>
          <p:cNvPr name="Group 6" id="6"/>
          <p:cNvGrpSpPr/>
          <p:nvPr/>
        </p:nvGrpSpPr>
        <p:grpSpPr>
          <a:xfrm rot="0">
            <a:off x="11276406" y="6153103"/>
            <a:ext cx="1300453" cy="2981937"/>
            <a:chOff x="0" y="0"/>
            <a:chExt cx="342506" cy="785366"/>
          </a:xfrm>
        </p:grpSpPr>
        <p:sp>
          <p:nvSpPr>
            <p:cNvPr name="Freeform 7" id="7"/>
            <p:cNvSpPr/>
            <p:nvPr/>
          </p:nvSpPr>
          <p:spPr>
            <a:xfrm flipH="false" flipV="false" rot="0">
              <a:off x="0" y="0"/>
              <a:ext cx="342506" cy="785366"/>
            </a:xfrm>
            <a:custGeom>
              <a:avLst/>
              <a:gdLst/>
              <a:ahLst/>
              <a:cxnLst/>
              <a:rect r="r" b="b" t="t" l="l"/>
              <a:pathLst>
                <a:path h="785366" w="342506">
                  <a:moveTo>
                    <a:pt x="0" y="0"/>
                  </a:moveTo>
                  <a:lnTo>
                    <a:pt x="342506" y="0"/>
                  </a:lnTo>
                  <a:lnTo>
                    <a:pt x="342506" y="785366"/>
                  </a:lnTo>
                  <a:lnTo>
                    <a:pt x="0" y="785366"/>
                  </a:lnTo>
                  <a:close/>
                </a:path>
              </a:pathLst>
            </a:custGeom>
            <a:solidFill>
              <a:srgbClr val="F9F5F5"/>
            </a:solidFill>
          </p:spPr>
        </p:sp>
        <p:sp>
          <p:nvSpPr>
            <p:cNvPr name="TextBox 8" id="8"/>
            <p:cNvSpPr txBox="true"/>
            <p:nvPr/>
          </p:nvSpPr>
          <p:spPr>
            <a:xfrm>
              <a:off x="0" y="-38100"/>
              <a:ext cx="342506" cy="823466"/>
            </a:xfrm>
            <a:prstGeom prst="rect">
              <a:avLst/>
            </a:prstGeom>
          </p:spPr>
          <p:txBody>
            <a:bodyPr anchor="ctr" rtlCol="false" tIns="50800" lIns="50800" bIns="50800" rIns="50800"/>
            <a:lstStyle/>
            <a:p>
              <a:pPr algn="ctr">
                <a:lnSpc>
                  <a:spcPts val="2939"/>
                </a:lnSpc>
              </a:pPr>
            </a:p>
          </p:txBody>
        </p:sp>
      </p:grpSp>
      <p:grpSp>
        <p:nvGrpSpPr>
          <p:cNvPr name="Group 9" id="9"/>
          <p:cNvGrpSpPr/>
          <p:nvPr/>
        </p:nvGrpSpPr>
        <p:grpSpPr>
          <a:xfrm rot="0">
            <a:off x="1714399" y="7400942"/>
            <a:ext cx="1270692" cy="1514489"/>
            <a:chOff x="0" y="0"/>
            <a:chExt cx="334668" cy="398878"/>
          </a:xfrm>
        </p:grpSpPr>
        <p:sp>
          <p:nvSpPr>
            <p:cNvPr name="Freeform 10" id="10"/>
            <p:cNvSpPr/>
            <p:nvPr/>
          </p:nvSpPr>
          <p:spPr>
            <a:xfrm flipH="false" flipV="false" rot="0">
              <a:off x="0" y="0"/>
              <a:ext cx="334668" cy="398878"/>
            </a:xfrm>
            <a:custGeom>
              <a:avLst/>
              <a:gdLst/>
              <a:ahLst/>
              <a:cxnLst/>
              <a:rect r="r" b="b" t="t" l="l"/>
              <a:pathLst>
                <a:path h="398878" w="334668">
                  <a:moveTo>
                    <a:pt x="0" y="0"/>
                  </a:moveTo>
                  <a:lnTo>
                    <a:pt x="334668" y="0"/>
                  </a:lnTo>
                  <a:lnTo>
                    <a:pt x="334668" y="398878"/>
                  </a:lnTo>
                  <a:lnTo>
                    <a:pt x="0" y="398878"/>
                  </a:lnTo>
                  <a:close/>
                </a:path>
              </a:pathLst>
            </a:custGeom>
            <a:solidFill>
              <a:srgbClr val="F9F5F5"/>
            </a:solidFill>
          </p:spPr>
        </p:sp>
        <p:sp>
          <p:nvSpPr>
            <p:cNvPr name="TextBox 11" id="11"/>
            <p:cNvSpPr txBox="true"/>
            <p:nvPr/>
          </p:nvSpPr>
          <p:spPr>
            <a:xfrm>
              <a:off x="0" y="-38100"/>
              <a:ext cx="334668" cy="436978"/>
            </a:xfrm>
            <a:prstGeom prst="rect">
              <a:avLst/>
            </a:prstGeom>
          </p:spPr>
          <p:txBody>
            <a:bodyPr anchor="ctr" rtlCol="false" tIns="50800" lIns="50800" bIns="50800" rIns="50800"/>
            <a:lstStyle/>
            <a:p>
              <a:pPr algn="ctr">
                <a:lnSpc>
                  <a:spcPts val="2939"/>
                </a:lnSpc>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9F5F5"/>
        </a:solidFill>
      </p:bgPr>
    </p:bg>
    <p:spTree>
      <p:nvGrpSpPr>
        <p:cNvPr id="1" name=""/>
        <p:cNvGrpSpPr/>
        <p:nvPr/>
      </p:nvGrpSpPr>
      <p:grpSpPr>
        <a:xfrm>
          <a:off x="0" y="0"/>
          <a:ext cx="0" cy="0"/>
          <a:chOff x="0" y="0"/>
          <a:chExt cx="0" cy="0"/>
        </a:xfrm>
      </p:grpSpPr>
      <p:sp>
        <p:nvSpPr>
          <p:cNvPr name="Freeform 2" id="2"/>
          <p:cNvSpPr/>
          <p:nvPr/>
        </p:nvSpPr>
        <p:spPr>
          <a:xfrm flipH="false" flipV="false" rot="0">
            <a:off x="1544349" y="2168142"/>
            <a:ext cx="13473177" cy="7549985"/>
          </a:xfrm>
          <a:custGeom>
            <a:avLst/>
            <a:gdLst/>
            <a:ahLst/>
            <a:cxnLst/>
            <a:rect r="r" b="b" t="t" l="l"/>
            <a:pathLst>
              <a:path h="7549985" w="13473177">
                <a:moveTo>
                  <a:pt x="0" y="0"/>
                </a:moveTo>
                <a:lnTo>
                  <a:pt x="13473177" y="0"/>
                </a:lnTo>
                <a:lnTo>
                  <a:pt x="13473177" y="7549985"/>
                </a:lnTo>
                <a:lnTo>
                  <a:pt x="0" y="7549985"/>
                </a:lnTo>
                <a:lnTo>
                  <a:pt x="0" y="0"/>
                </a:lnTo>
                <a:close/>
              </a:path>
            </a:pathLst>
          </a:custGeom>
          <a:blipFill>
            <a:blip r:embed="rId2"/>
            <a:stretch>
              <a:fillRect l="0" t="0" r="0" b="0"/>
            </a:stretch>
          </a:blipFill>
        </p:spPr>
      </p:sp>
      <p:sp>
        <p:nvSpPr>
          <p:cNvPr name="TextBox 3" id="3"/>
          <p:cNvSpPr txBox="true"/>
          <p:nvPr/>
        </p:nvSpPr>
        <p:spPr>
          <a:xfrm rot="0">
            <a:off x="522767" y="686879"/>
            <a:ext cx="14821437" cy="854071"/>
          </a:xfrm>
          <a:prstGeom prst="rect">
            <a:avLst/>
          </a:prstGeom>
        </p:spPr>
        <p:txBody>
          <a:bodyPr anchor="t" rtlCol="false" tIns="0" lIns="0" bIns="0" rIns="0">
            <a:spAutoFit/>
          </a:bodyPr>
          <a:lstStyle/>
          <a:p>
            <a:pPr algn="l">
              <a:lnSpc>
                <a:spcPts val="5008"/>
              </a:lnSpc>
            </a:pPr>
            <a:r>
              <a:rPr lang="en-US" b="true" sz="5565" spc="-378">
                <a:solidFill>
                  <a:srgbClr val="FF4141"/>
                </a:solidFill>
                <a:latin typeface="Agrandir Bold"/>
                <a:ea typeface="Agrandir Bold"/>
                <a:cs typeface="Agrandir Bold"/>
                <a:sym typeface="Agrandir Bold"/>
              </a:rPr>
              <a:t>Part III: Out of School Time</a:t>
            </a:r>
          </a:p>
        </p:txBody>
      </p:sp>
      <p:sp>
        <p:nvSpPr>
          <p:cNvPr name="TextBox 4" id="4"/>
          <p:cNvSpPr txBox="true"/>
          <p:nvPr/>
        </p:nvSpPr>
        <p:spPr>
          <a:xfrm rot="0">
            <a:off x="556647" y="1378072"/>
            <a:ext cx="12619938" cy="611505"/>
          </a:xfrm>
          <a:prstGeom prst="rect">
            <a:avLst/>
          </a:prstGeom>
        </p:spPr>
        <p:txBody>
          <a:bodyPr anchor="t" rtlCol="false" tIns="0" lIns="0" bIns="0" rIns="0">
            <a:spAutoFit/>
          </a:bodyPr>
          <a:lstStyle/>
          <a:p>
            <a:pPr algn="just">
              <a:lnSpc>
                <a:spcPts val="2520"/>
              </a:lnSpc>
            </a:pPr>
            <a:r>
              <a:rPr lang="en-US" sz="1800">
                <a:solidFill>
                  <a:srgbClr val="191919"/>
                </a:solidFill>
                <a:latin typeface="Open Sans"/>
                <a:ea typeface="Open Sans"/>
                <a:cs typeface="Open Sans"/>
                <a:sym typeface="Open Sans"/>
              </a:rPr>
              <a:t>My goal with this part of the project was to determine where dependency on Out of School Time programs is the highest. I analyzed quarterly data first and then considered yearly outcomes.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9F5F5"/>
        </a:solidFill>
      </p:bgPr>
    </p:bg>
    <p:spTree>
      <p:nvGrpSpPr>
        <p:cNvPr id="1" name=""/>
        <p:cNvGrpSpPr/>
        <p:nvPr/>
      </p:nvGrpSpPr>
      <p:grpSpPr>
        <a:xfrm>
          <a:off x="0" y="0"/>
          <a:ext cx="0" cy="0"/>
          <a:chOff x="0" y="0"/>
          <a:chExt cx="0" cy="0"/>
        </a:xfrm>
      </p:grpSpPr>
      <p:sp>
        <p:nvSpPr>
          <p:cNvPr name="Freeform 2" id="2"/>
          <p:cNvSpPr/>
          <p:nvPr/>
        </p:nvSpPr>
        <p:spPr>
          <a:xfrm flipH="false" flipV="false" rot="0">
            <a:off x="1307382" y="1082711"/>
            <a:ext cx="14586336" cy="8175589"/>
          </a:xfrm>
          <a:custGeom>
            <a:avLst/>
            <a:gdLst/>
            <a:ahLst/>
            <a:cxnLst/>
            <a:rect r="r" b="b" t="t" l="l"/>
            <a:pathLst>
              <a:path h="8175589" w="14586336">
                <a:moveTo>
                  <a:pt x="0" y="0"/>
                </a:moveTo>
                <a:lnTo>
                  <a:pt x="14586337" y="0"/>
                </a:lnTo>
                <a:lnTo>
                  <a:pt x="14586337" y="8175589"/>
                </a:lnTo>
                <a:lnTo>
                  <a:pt x="0" y="8175589"/>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9F5F5"/>
        </a:solidFill>
      </p:bgPr>
    </p:bg>
    <p:spTree>
      <p:nvGrpSpPr>
        <p:cNvPr id="1" name=""/>
        <p:cNvGrpSpPr/>
        <p:nvPr/>
      </p:nvGrpSpPr>
      <p:grpSpPr>
        <a:xfrm>
          <a:off x="0" y="0"/>
          <a:ext cx="0" cy="0"/>
          <a:chOff x="0" y="0"/>
          <a:chExt cx="0" cy="0"/>
        </a:xfrm>
      </p:grpSpPr>
      <p:sp>
        <p:nvSpPr>
          <p:cNvPr name="Freeform 2" id="2"/>
          <p:cNvSpPr/>
          <p:nvPr/>
        </p:nvSpPr>
        <p:spPr>
          <a:xfrm flipH="false" flipV="false" rot="0">
            <a:off x="1786441" y="993472"/>
            <a:ext cx="14715118" cy="8300056"/>
          </a:xfrm>
          <a:custGeom>
            <a:avLst/>
            <a:gdLst/>
            <a:ahLst/>
            <a:cxnLst/>
            <a:rect r="r" b="b" t="t" l="l"/>
            <a:pathLst>
              <a:path h="8300056" w="14715118">
                <a:moveTo>
                  <a:pt x="0" y="0"/>
                </a:moveTo>
                <a:lnTo>
                  <a:pt x="14715118" y="0"/>
                </a:lnTo>
                <a:lnTo>
                  <a:pt x="14715118" y="8300056"/>
                </a:lnTo>
                <a:lnTo>
                  <a:pt x="0" y="8300056"/>
                </a:lnTo>
                <a:lnTo>
                  <a:pt x="0" y="0"/>
                </a:lnTo>
                <a:close/>
              </a:path>
            </a:pathLst>
          </a:custGeom>
          <a:blipFill>
            <a:blip r:embed="rId2"/>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9F5F5"/>
        </a:solidFill>
      </p:bgPr>
    </p:bg>
    <p:spTree>
      <p:nvGrpSpPr>
        <p:cNvPr id="1" name=""/>
        <p:cNvGrpSpPr/>
        <p:nvPr/>
      </p:nvGrpSpPr>
      <p:grpSpPr>
        <a:xfrm>
          <a:off x="0" y="0"/>
          <a:ext cx="0" cy="0"/>
          <a:chOff x="0" y="0"/>
          <a:chExt cx="0" cy="0"/>
        </a:xfrm>
      </p:grpSpPr>
      <p:sp>
        <p:nvSpPr>
          <p:cNvPr name="Freeform 2" id="2"/>
          <p:cNvSpPr/>
          <p:nvPr/>
        </p:nvSpPr>
        <p:spPr>
          <a:xfrm flipH="false" flipV="false" rot="0">
            <a:off x="1198647" y="2306112"/>
            <a:ext cx="13469677" cy="7549705"/>
          </a:xfrm>
          <a:custGeom>
            <a:avLst/>
            <a:gdLst/>
            <a:ahLst/>
            <a:cxnLst/>
            <a:rect r="r" b="b" t="t" l="l"/>
            <a:pathLst>
              <a:path h="7549705" w="13469677">
                <a:moveTo>
                  <a:pt x="0" y="0"/>
                </a:moveTo>
                <a:lnTo>
                  <a:pt x="13469677" y="0"/>
                </a:lnTo>
                <a:lnTo>
                  <a:pt x="13469677" y="7549705"/>
                </a:lnTo>
                <a:lnTo>
                  <a:pt x="0" y="7549705"/>
                </a:lnTo>
                <a:lnTo>
                  <a:pt x="0" y="0"/>
                </a:lnTo>
                <a:close/>
              </a:path>
            </a:pathLst>
          </a:custGeom>
          <a:blipFill>
            <a:blip r:embed="rId2"/>
            <a:stretch>
              <a:fillRect l="0" t="0" r="0" b="0"/>
            </a:stretch>
          </a:blipFill>
        </p:spPr>
      </p:sp>
      <p:sp>
        <p:nvSpPr>
          <p:cNvPr name="TextBox 3" id="3"/>
          <p:cNvSpPr txBox="true"/>
          <p:nvPr/>
        </p:nvSpPr>
        <p:spPr>
          <a:xfrm rot="0">
            <a:off x="522767" y="686879"/>
            <a:ext cx="14821437" cy="854071"/>
          </a:xfrm>
          <a:prstGeom prst="rect">
            <a:avLst/>
          </a:prstGeom>
        </p:spPr>
        <p:txBody>
          <a:bodyPr anchor="t" rtlCol="false" tIns="0" lIns="0" bIns="0" rIns="0">
            <a:spAutoFit/>
          </a:bodyPr>
          <a:lstStyle/>
          <a:p>
            <a:pPr algn="l">
              <a:lnSpc>
                <a:spcPts val="5008"/>
              </a:lnSpc>
            </a:pPr>
            <a:r>
              <a:rPr lang="en-US" b="true" sz="5565" spc="-378">
                <a:solidFill>
                  <a:srgbClr val="FF4141"/>
                </a:solidFill>
                <a:latin typeface="Agrandir Bold"/>
                <a:ea typeface="Agrandir Bold"/>
                <a:cs typeface="Agrandir Bold"/>
                <a:sym typeface="Agrandir Bold"/>
              </a:rPr>
              <a:t>Part IV: Workforce Development</a:t>
            </a:r>
          </a:p>
        </p:txBody>
      </p:sp>
      <p:sp>
        <p:nvSpPr>
          <p:cNvPr name="TextBox 4" id="4"/>
          <p:cNvSpPr txBox="true"/>
          <p:nvPr/>
        </p:nvSpPr>
        <p:spPr>
          <a:xfrm rot="0">
            <a:off x="556647" y="1378072"/>
            <a:ext cx="11399746" cy="611505"/>
          </a:xfrm>
          <a:prstGeom prst="rect">
            <a:avLst/>
          </a:prstGeom>
        </p:spPr>
        <p:txBody>
          <a:bodyPr anchor="t" rtlCol="false" tIns="0" lIns="0" bIns="0" rIns="0">
            <a:spAutoFit/>
          </a:bodyPr>
          <a:lstStyle/>
          <a:p>
            <a:pPr algn="just">
              <a:lnSpc>
                <a:spcPts val="2520"/>
              </a:lnSpc>
            </a:pPr>
            <a:r>
              <a:rPr lang="en-US" sz="1800">
                <a:solidFill>
                  <a:srgbClr val="191919"/>
                </a:solidFill>
                <a:latin typeface="Open Sans"/>
                <a:ea typeface="Open Sans"/>
                <a:cs typeface="Open Sans"/>
                <a:sym typeface="Open Sans"/>
              </a:rPr>
              <a:t>My goal with this part of the project was to better understand how the early childhood care workforce has changed over time.</a:t>
            </a:r>
          </a:p>
        </p:txBody>
      </p:sp>
      <p:sp>
        <p:nvSpPr>
          <p:cNvPr name="TextBox 5" id="5"/>
          <p:cNvSpPr txBox="true"/>
          <p:nvPr/>
        </p:nvSpPr>
        <p:spPr>
          <a:xfrm rot="0">
            <a:off x="15186494" y="8961120"/>
            <a:ext cx="2072806" cy="297180"/>
          </a:xfrm>
          <a:prstGeom prst="rect">
            <a:avLst/>
          </a:prstGeom>
        </p:spPr>
        <p:txBody>
          <a:bodyPr anchor="t" rtlCol="false" tIns="0" lIns="0" bIns="0" rIns="0">
            <a:spAutoFit/>
          </a:bodyPr>
          <a:lstStyle/>
          <a:p>
            <a:pPr algn="r">
              <a:lnSpc>
                <a:spcPts val="2520"/>
              </a:lnSpc>
            </a:pPr>
            <a:r>
              <a:rPr lang="en-US" sz="1800" spc="-91">
                <a:solidFill>
                  <a:srgbClr val="191919"/>
                </a:solidFill>
                <a:latin typeface="Open Sans"/>
                <a:ea typeface="Open Sans"/>
                <a:cs typeface="Open Sans"/>
                <a:sym typeface="Open Sans"/>
              </a:rPr>
              <a:t>08 September, 2026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9F5F5"/>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705037"/>
            <a:ext cx="15808448" cy="8876926"/>
          </a:xfrm>
          <a:custGeom>
            <a:avLst/>
            <a:gdLst/>
            <a:ahLst/>
            <a:cxnLst/>
            <a:rect r="r" b="b" t="t" l="l"/>
            <a:pathLst>
              <a:path h="8876926" w="15808448">
                <a:moveTo>
                  <a:pt x="0" y="0"/>
                </a:moveTo>
                <a:lnTo>
                  <a:pt x="15808448" y="0"/>
                </a:lnTo>
                <a:lnTo>
                  <a:pt x="15808448" y="8876926"/>
                </a:lnTo>
                <a:lnTo>
                  <a:pt x="0" y="8876926"/>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9F5F5"/>
        </a:solidFill>
      </p:bgPr>
    </p:bg>
    <p:spTree>
      <p:nvGrpSpPr>
        <p:cNvPr id="1" name=""/>
        <p:cNvGrpSpPr/>
        <p:nvPr/>
      </p:nvGrpSpPr>
      <p:grpSpPr>
        <a:xfrm>
          <a:off x="0" y="0"/>
          <a:ext cx="0" cy="0"/>
          <a:chOff x="0" y="0"/>
          <a:chExt cx="0" cy="0"/>
        </a:xfrm>
      </p:grpSpPr>
      <p:sp>
        <p:nvSpPr>
          <p:cNvPr name="TextBox 2" id="2"/>
          <p:cNvSpPr txBox="true"/>
          <p:nvPr/>
        </p:nvSpPr>
        <p:spPr>
          <a:xfrm rot="0">
            <a:off x="1028700" y="-1970610"/>
            <a:ext cx="16230600" cy="11640396"/>
          </a:xfrm>
          <a:prstGeom prst="rect">
            <a:avLst/>
          </a:prstGeom>
        </p:spPr>
        <p:txBody>
          <a:bodyPr anchor="t" rtlCol="false" tIns="0" lIns="0" bIns="0" rIns="0">
            <a:spAutoFit/>
          </a:bodyPr>
          <a:lstStyle/>
          <a:p>
            <a:pPr algn="ctr">
              <a:lnSpc>
                <a:spcPts val="81476"/>
              </a:lnSpc>
            </a:pPr>
            <a:r>
              <a:rPr lang="en-US" b="true" sz="58197" spc="-3957">
                <a:solidFill>
                  <a:srgbClr val="FF4141"/>
                </a:solidFill>
                <a:latin typeface="Agrandir Bold"/>
                <a:ea typeface="Agrandir Bold"/>
                <a:cs typeface="Agrandir Bold"/>
                <a:sym typeface="Agrandir Bold"/>
              </a:rPr>
              <a:t>LET'S</a:t>
            </a:r>
          </a:p>
        </p:txBody>
      </p:sp>
      <p:sp>
        <p:nvSpPr>
          <p:cNvPr name="TextBox 3" id="3"/>
          <p:cNvSpPr txBox="true"/>
          <p:nvPr/>
        </p:nvSpPr>
        <p:spPr>
          <a:xfrm rot="0">
            <a:off x="2919647" y="3166342"/>
            <a:ext cx="12448707" cy="2293689"/>
          </a:xfrm>
          <a:prstGeom prst="rect">
            <a:avLst/>
          </a:prstGeom>
        </p:spPr>
        <p:txBody>
          <a:bodyPr anchor="t" rtlCol="false" tIns="0" lIns="0" bIns="0" rIns="0">
            <a:spAutoFit/>
          </a:bodyPr>
          <a:lstStyle/>
          <a:p>
            <a:pPr algn="ctr">
              <a:lnSpc>
                <a:spcPts val="16084"/>
              </a:lnSpc>
            </a:pPr>
            <a:r>
              <a:rPr lang="en-US" b="true" sz="11488" spc="-781">
                <a:solidFill>
                  <a:srgbClr val="191919"/>
                </a:solidFill>
                <a:latin typeface="Agrandir Bold"/>
                <a:ea typeface="Agrandir Bold"/>
                <a:cs typeface="Agrandir Bold"/>
                <a:sym typeface="Agrandir Bold"/>
              </a:rPr>
              <a:t>WORK TOGETHER!</a:t>
            </a:r>
          </a:p>
        </p:txBody>
      </p:sp>
      <p:sp>
        <p:nvSpPr>
          <p:cNvPr name="TextBox 4" id="4"/>
          <p:cNvSpPr txBox="true"/>
          <p:nvPr/>
        </p:nvSpPr>
        <p:spPr>
          <a:xfrm rot="0">
            <a:off x="1028700" y="8692515"/>
            <a:ext cx="1927624" cy="297180"/>
          </a:xfrm>
          <a:prstGeom prst="rect">
            <a:avLst/>
          </a:prstGeom>
        </p:spPr>
        <p:txBody>
          <a:bodyPr anchor="t" rtlCol="false" tIns="0" lIns="0" bIns="0" rIns="0">
            <a:spAutoFit/>
          </a:bodyPr>
          <a:lstStyle/>
          <a:p>
            <a:pPr algn="l">
              <a:lnSpc>
                <a:spcPts val="2520"/>
              </a:lnSpc>
            </a:pPr>
            <a:r>
              <a:rPr lang="en-US" sz="1800" spc="-91">
                <a:solidFill>
                  <a:srgbClr val="191919"/>
                </a:solidFill>
                <a:latin typeface="Open Sans"/>
                <a:ea typeface="Open Sans"/>
                <a:cs typeface="Open Sans"/>
                <a:sym typeface="Open Sans"/>
              </a:rPr>
              <a:t>Name of Project:</a:t>
            </a:r>
          </a:p>
        </p:txBody>
      </p:sp>
      <p:sp>
        <p:nvSpPr>
          <p:cNvPr name="TextBox 5" id="5"/>
          <p:cNvSpPr txBox="true"/>
          <p:nvPr/>
        </p:nvSpPr>
        <p:spPr>
          <a:xfrm rot="0">
            <a:off x="1028700" y="8961120"/>
            <a:ext cx="3054984" cy="297180"/>
          </a:xfrm>
          <a:prstGeom prst="rect">
            <a:avLst/>
          </a:prstGeom>
        </p:spPr>
        <p:txBody>
          <a:bodyPr anchor="t" rtlCol="false" tIns="0" lIns="0" bIns="0" rIns="0">
            <a:spAutoFit/>
          </a:bodyPr>
          <a:lstStyle/>
          <a:p>
            <a:pPr algn="l">
              <a:lnSpc>
                <a:spcPts val="2520"/>
              </a:lnSpc>
            </a:pPr>
            <a:r>
              <a:rPr lang="en-US" sz="1800" spc="-91" b="true">
                <a:solidFill>
                  <a:srgbClr val="191919"/>
                </a:solidFill>
                <a:latin typeface="Open Sans Bold"/>
                <a:ea typeface="Open Sans Bold"/>
                <a:cs typeface="Open Sans Bold"/>
                <a:sym typeface="Open Sans Bold"/>
              </a:rPr>
              <a:t>Data Analysis Portfolio</a:t>
            </a:r>
          </a:p>
        </p:txBody>
      </p:sp>
      <p:sp>
        <p:nvSpPr>
          <p:cNvPr name="TextBox 6" id="6"/>
          <p:cNvSpPr txBox="true"/>
          <p:nvPr/>
        </p:nvSpPr>
        <p:spPr>
          <a:xfrm rot="0">
            <a:off x="5276514" y="8692515"/>
            <a:ext cx="1619638" cy="297180"/>
          </a:xfrm>
          <a:prstGeom prst="rect">
            <a:avLst/>
          </a:prstGeom>
        </p:spPr>
        <p:txBody>
          <a:bodyPr anchor="t" rtlCol="false" tIns="0" lIns="0" bIns="0" rIns="0">
            <a:spAutoFit/>
          </a:bodyPr>
          <a:lstStyle/>
          <a:p>
            <a:pPr algn="l">
              <a:lnSpc>
                <a:spcPts val="2520"/>
              </a:lnSpc>
            </a:pPr>
            <a:r>
              <a:rPr lang="en-US" sz="1800" spc="-91">
                <a:solidFill>
                  <a:srgbClr val="191919"/>
                </a:solidFill>
                <a:latin typeface="Open Sans"/>
                <a:ea typeface="Open Sans"/>
                <a:cs typeface="Open Sans"/>
                <a:sym typeface="Open Sans"/>
              </a:rPr>
              <a:t>Presented By:</a:t>
            </a:r>
          </a:p>
        </p:txBody>
      </p:sp>
      <p:sp>
        <p:nvSpPr>
          <p:cNvPr name="TextBox 7" id="7"/>
          <p:cNvSpPr txBox="true"/>
          <p:nvPr/>
        </p:nvSpPr>
        <p:spPr>
          <a:xfrm rot="0">
            <a:off x="5276514" y="8961120"/>
            <a:ext cx="2055940" cy="297180"/>
          </a:xfrm>
          <a:prstGeom prst="rect">
            <a:avLst/>
          </a:prstGeom>
        </p:spPr>
        <p:txBody>
          <a:bodyPr anchor="t" rtlCol="false" tIns="0" lIns="0" bIns="0" rIns="0">
            <a:spAutoFit/>
          </a:bodyPr>
          <a:lstStyle/>
          <a:p>
            <a:pPr algn="l">
              <a:lnSpc>
                <a:spcPts val="2520"/>
              </a:lnSpc>
            </a:pPr>
            <a:r>
              <a:rPr lang="en-US" sz="1800" spc="-91" b="true">
                <a:solidFill>
                  <a:srgbClr val="191919"/>
                </a:solidFill>
                <a:latin typeface="Open Sans Bold"/>
                <a:ea typeface="Open Sans Bold"/>
                <a:cs typeface="Open Sans Bold"/>
                <a:sym typeface="Open Sans Bold"/>
              </a:rPr>
              <a:t>Hena Delic</a:t>
            </a:r>
          </a:p>
        </p:txBody>
      </p:sp>
      <p:sp>
        <p:nvSpPr>
          <p:cNvPr name="TextBox 8" id="8"/>
          <p:cNvSpPr txBox="true"/>
          <p:nvPr/>
        </p:nvSpPr>
        <p:spPr>
          <a:xfrm rot="0">
            <a:off x="12493143" y="8803957"/>
            <a:ext cx="3545965" cy="611505"/>
          </a:xfrm>
          <a:prstGeom prst="rect">
            <a:avLst/>
          </a:prstGeom>
        </p:spPr>
        <p:txBody>
          <a:bodyPr anchor="t" rtlCol="false" tIns="0" lIns="0" bIns="0" rIns="0">
            <a:spAutoFit/>
          </a:bodyPr>
          <a:lstStyle/>
          <a:p>
            <a:pPr algn="just">
              <a:lnSpc>
                <a:spcPts val="2520"/>
              </a:lnSpc>
            </a:pPr>
            <a:r>
              <a:rPr lang="en-US" sz="1800" spc="-91">
                <a:solidFill>
                  <a:srgbClr val="191919"/>
                </a:solidFill>
                <a:latin typeface="Open Sans"/>
                <a:ea typeface="Open Sans"/>
                <a:cs typeface="Open Sans"/>
                <a:sym typeface="Open Sans"/>
              </a:rPr>
              <a:t>Email: delic.hena@gmail.com</a:t>
            </a:r>
          </a:p>
          <a:p>
            <a:pPr algn="just">
              <a:lnSpc>
                <a:spcPts val="2520"/>
              </a:lnSpc>
            </a:pPr>
            <a:r>
              <a:rPr lang="en-US" sz="1800" spc="-91" u="sng">
                <a:solidFill>
                  <a:srgbClr val="5170FF"/>
                </a:solidFill>
                <a:latin typeface="Open Sans"/>
                <a:ea typeface="Open Sans"/>
                <a:cs typeface="Open Sans"/>
                <a:sym typeface="Open Sans"/>
                <a:hlinkClick r:id="rId2" tooltip="https://www.linkedin.com/in/hena-delic-7271512b0"/>
              </a:rPr>
              <a:t>LinkedIn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DAHUokMbXDA</dc:identifier>
  <dcterms:modified xsi:type="dcterms:W3CDTF">2011-08-01T06:04:30Z</dcterms:modified>
  <cp:revision>1</cp:revision>
  <dc:title>Data Analytics Portfolio 2.0</dc:title>
</cp:coreProperties>
</file>